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51D3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B354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51D3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B354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51D3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51D3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9F5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5992" y="339751"/>
            <a:ext cx="8748395" cy="895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51D3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5992" y="1310796"/>
            <a:ext cx="12639040" cy="3164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B354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hyperlink" Target="http://localhost:5000/swagger" TargetMode="External"/><Relationship Id="rId4" Type="http://schemas.openxmlformats.org/officeDocument/2006/relationships/hyperlink" Target="http://localhost:4200/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992" y="2082723"/>
            <a:ext cx="11543665" cy="14427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700"/>
              </a:lnSpc>
              <a:tabLst>
                <a:tab pos="4021454" algn="l"/>
                <a:tab pos="7487920" algn="l"/>
                <a:tab pos="9381490" algn="l"/>
                <a:tab pos="9734550" algn="l"/>
              </a:tabLst>
            </a:pPr>
            <a:r>
              <a:rPr dirty="0" sz="4550" spc="-10"/>
              <a:t>CarCommunity</a:t>
            </a:r>
            <a:r>
              <a:rPr dirty="0" sz="4550"/>
              <a:t>	</a:t>
            </a:r>
            <a:r>
              <a:rPr dirty="0" sz="4550" spc="-10"/>
              <a:t>Maintenance</a:t>
            </a:r>
            <a:r>
              <a:rPr dirty="0" sz="4550"/>
              <a:t>	</a:t>
            </a:r>
            <a:r>
              <a:rPr dirty="0" sz="4550" spc="-10"/>
              <a:t>Center</a:t>
            </a:r>
            <a:r>
              <a:rPr dirty="0" sz="4550"/>
              <a:t>	</a:t>
            </a:r>
            <a:r>
              <a:rPr dirty="0" sz="4550" spc="-50"/>
              <a:t>-</a:t>
            </a:r>
            <a:r>
              <a:rPr dirty="0" sz="4550"/>
              <a:t>	</a:t>
            </a:r>
            <a:r>
              <a:rPr dirty="0" sz="4550" spc="-10"/>
              <a:t>Project Documentation</a:t>
            </a:r>
            <a:endParaRPr sz="4550"/>
          </a:p>
        </p:txBody>
      </p:sp>
      <p:sp>
        <p:nvSpPr>
          <p:cNvPr id="3" name="object 3" descr=""/>
          <p:cNvSpPr txBox="1"/>
          <p:nvPr/>
        </p:nvSpPr>
        <p:spPr>
          <a:xfrm>
            <a:off x="955992" y="3881729"/>
            <a:ext cx="12677140" cy="1880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3180">
              <a:lnSpc>
                <a:spcPct val="136000"/>
              </a:lnSpc>
              <a:spcBef>
                <a:spcPts val="100"/>
              </a:spcBef>
            </a:pP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This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document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is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intended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for</a:t>
            </a:r>
            <a:r>
              <a:rPr dirty="0" sz="19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software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B3541"/>
                </a:solidFill>
                <a:latin typeface="Arial"/>
                <a:cs typeface="Arial"/>
              </a:rPr>
              <a:t>engineers,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DevOps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B3541"/>
                </a:solidFill>
                <a:latin typeface="Arial"/>
                <a:cs typeface="Arial"/>
              </a:rPr>
              <a:t>engineers,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9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technical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product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managers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B3541"/>
                </a:solidFill>
                <a:latin typeface="Arial"/>
                <a:cs typeface="Arial"/>
              </a:rPr>
              <a:t>responsible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2B3541"/>
                </a:solidFill>
                <a:latin typeface="Arial"/>
                <a:cs typeface="Arial"/>
              </a:rPr>
              <a:t>for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building</a:t>
            </a:r>
            <a:r>
              <a:rPr dirty="0" sz="19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9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B3541"/>
                </a:solidFill>
                <a:latin typeface="Arial"/>
                <a:cs typeface="Arial"/>
              </a:rPr>
              <a:t>maintaining</a:t>
            </a:r>
            <a:r>
              <a:rPr dirty="0" sz="19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9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2B3541"/>
                </a:solidFill>
                <a:latin typeface="Arial"/>
                <a:cs typeface="Arial"/>
              </a:rPr>
              <a:t>multi-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tenant</a:t>
            </a:r>
            <a:r>
              <a:rPr dirty="0" sz="19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B3541"/>
                </a:solidFill>
                <a:latin typeface="Arial"/>
                <a:cs typeface="Arial"/>
              </a:rPr>
              <a:t>CarCommunity</a:t>
            </a:r>
            <a:r>
              <a:rPr dirty="0" sz="19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platform</a:t>
            </a:r>
            <a:r>
              <a:rPr dirty="0" sz="19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(ASP.NET</a:t>
            </a:r>
            <a:r>
              <a:rPr dirty="0" sz="19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Core</a:t>
            </a:r>
            <a:r>
              <a:rPr dirty="0" sz="19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+</a:t>
            </a:r>
            <a:r>
              <a:rPr dirty="0" sz="19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B3541"/>
                </a:solidFill>
                <a:latin typeface="Arial"/>
                <a:cs typeface="Arial"/>
              </a:rPr>
              <a:t>Angular).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</a:pP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document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provides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a</a:t>
            </a:r>
            <a:r>
              <a:rPr dirty="0" sz="19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technical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overview,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B3541"/>
                </a:solidFill>
                <a:latin typeface="Arial"/>
                <a:cs typeface="Arial"/>
              </a:rPr>
              <a:t>architectural</a:t>
            </a:r>
            <a:r>
              <a:rPr dirty="0" sz="19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details,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2B3541"/>
                </a:solidFill>
                <a:latin typeface="Arial"/>
                <a:cs typeface="Arial"/>
              </a:rPr>
              <a:t>quick-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start</a:t>
            </a:r>
            <a:r>
              <a:rPr dirty="0" sz="19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guidelines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facilitate</a:t>
            </a:r>
            <a:r>
              <a:rPr dirty="0" sz="19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B3541"/>
                </a:solidFill>
                <a:latin typeface="Arial"/>
                <a:cs typeface="Arial"/>
              </a:rPr>
              <a:t>understanding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9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work</a:t>
            </a:r>
            <a:r>
              <a:rPr dirty="0" sz="19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on</a:t>
            </a:r>
            <a:r>
              <a:rPr dirty="0" sz="19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9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project.</a:t>
            </a:r>
            <a:r>
              <a:rPr dirty="0" sz="19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9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platform</a:t>
            </a:r>
            <a:r>
              <a:rPr dirty="0" sz="19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is</a:t>
            </a:r>
            <a:r>
              <a:rPr dirty="0" sz="19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designed</a:t>
            </a:r>
            <a:r>
              <a:rPr dirty="0" sz="19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9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provide</a:t>
            </a:r>
            <a:r>
              <a:rPr dirty="0" sz="19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integrated</a:t>
            </a:r>
            <a:r>
              <a:rPr dirty="0" sz="19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services</a:t>
            </a:r>
            <a:r>
              <a:rPr dirty="0" sz="19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for</a:t>
            </a:r>
            <a:r>
              <a:rPr dirty="0" sz="19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car</a:t>
            </a:r>
            <a:r>
              <a:rPr dirty="0" sz="19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owners</a:t>
            </a:r>
            <a:r>
              <a:rPr dirty="0" sz="19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9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B3541"/>
                </a:solidFill>
                <a:latin typeface="Arial"/>
                <a:cs typeface="Arial"/>
              </a:rPr>
              <a:t>service</a:t>
            </a:r>
            <a:r>
              <a:rPr dirty="0" sz="19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B3541"/>
                </a:solidFill>
                <a:latin typeface="Arial"/>
                <a:cs typeface="Arial"/>
              </a:rPr>
              <a:t>providers.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992" y="566508"/>
            <a:ext cx="7513320" cy="5969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4965" algn="l"/>
                <a:tab pos="3741420" algn="l"/>
                <a:tab pos="4668520" algn="l"/>
                <a:tab pos="5621020" algn="l"/>
              </a:tabLst>
            </a:pPr>
            <a:r>
              <a:rPr dirty="0" sz="3750" spc="-10"/>
              <a:t>Project</a:t>
            </a:r>
            <a:r>
              <a:rPr dirty="0" sz="3750"/>
              <a:t>	</a:t>
            </a:r>
            <a:r>
              <a:rPr dirty="0" sz="3750" spc="-10"/>
              <a:t>Overview</a:t>
            </a:r>
            <a:r>
              <a:rPr dirty="0" sz="3750"/>
              <a:t>	</a:t>
            </a:r>
            <a:r>
              <a:rPr dirty="0" sz="3750" spc="-25"/>
              <a:t>and</a:t>
            </a:r>
            <a:r>
              <a:rPr dirty="0" sz="3750"/>
              <a:t>	</a:t>
            </a:r>
            <a:r>
              <a:rPr dirty="0" sz="3750" spc="-25"/>
              <a:t>Key</a:t>
            </a:r>
            <a:r>
              <a:rPr dirty="0" sz="3750"/>
              <a:t>	</a:t>
            </a:r>
            <a:r>
              <a:rPr dirty="0" sz="3750" spc="-10"/>
              <a:t>Features</a:t>
            </a:r>
            <a:endParaRPr sz="3750"/>
          </a:p>
        </p:txBody>
      </p:sp>
      <p:sp>
        <p:nvSpPr>
          <p:cNvPr id="3" name="object 3" descr=""/>
          <p:cNvSpPr txBox="1"/>
          <p:nvPr/>
        </p:nvSpPr>
        <p:spPr>
          <a:xfrm>
            <a:off x="955992" y="1559991"/>
            <a:ext cx="1265682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Car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Community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Maintenance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Center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is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a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comprehensive</a:t>
            </a:r>
            <a:r>
              <a:rPr dirty="0" sz="160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platform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that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allows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car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owners,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maintenance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shops,</a:t>
            </a:r>
            <a:r>
              <a:rPr dirty="0" sz="160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spare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parts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sellers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to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manage</a:t>
            </a:r>
            <a:r>
              <a:rPr dirty="0" sz="16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vehicles,</a:t>
            </a:r>
            <a:r>
              <a:rPr dirty="0" sz="16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schedules,</a:t>
            </a:r>
            <a:r>
              <a:rPr dirty="0" sz="16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community</a:t>
            </a:r>
            <a:r>
              <a:rPr dirty="0" sz="16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interactions,</a:t>
            </a:r>
            <a:r>
              <a:rPr dirty="0" sz="16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6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business</a:t>
            </a:r>
            <a:r>
              <a:rPr dirty="0" sz="16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B3541"/>
                </a:solidFill>
                <a:latin typeface="Arial"/>
                <a:cs typeface="Arial"/>
              </a:rPr>
              <a:t>transactions.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8692" y="2463634"/>
            <a:ext cx="2146223" cy="214622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55992" y="4864925"/>
            <a:ext cx="223075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solidFill>
                  <a:srgbClr val="2B3541"/>
                </a:solidFill>
                <a:latin typeface="Arial"/>
                <a:cs typeface="Arial"/>
              </a:rPr>
              <a:t>Vehicle</a:t>
            </a:r>
            <a:r>
              <a:rPr dirty="0" sz="185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B3541"/>
                </a:solidFill>
                <a:latin typeface="Arial"/>
                <a:cs typeface="Arial"/>
              </a:rPr>
              <a:t>Management</a:t>
            </a:r>
            <a:endParaRPr sz="18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55992" y="5273547"/>
            <a:ext cx="2633345" cy="1320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Registering</a:t>
            </a:r>
            <a:r>
              <a:rPr dirty="0" sz="16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cars,</a:t>
            </a:r>
            <a:r>
              <a:rPr dirty="0" sz="16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B3541"/>
                </a:solidFill>
                <a:latin typeface="Arial"/>
                <a:cs typeface="Arial"/>
              </a:rPr>
              <a:t>uploading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photos,</a:t>
            </a:r>
            <a:r>
              <a:rPr dirty="0" sz="160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60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viewing</a:t>
            </a:r>
            <a:r>
              <a:rPr dirty="0" sz="160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B3541"/>
                </a:solidFill>
                <a:latin typeface="Arial"/>
                <a:cs typeface="Arial"/>
              </a:rPr>
              <a:t>detailed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maintenance</a:t>
            </a:r>
            <a:r>
              <a:rPr dirty="0" sz="16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history</a:t>
            </a:r>
            <a:r>
              <a:rPr dirty="0" sz="16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for</a:t>
            </a:r>
            <a:r>
              <a:rPr dirty="0" sz="16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B3541"/>
                </a:solidFill>
                <a:latin typeface="Arial"/>
                <a:cs typeface="Arial"/>
              </a:rPr>
              <a:t>each </a:t>
            </a:r>
            <a:r>
              <a:rPr dirty="0" sz="1600" spc="-10">
                <a:solidFill>
                  <a:srgbClr val="2B3541"/>
                </a:solidFill>
                <a:latin typeface="Arial"/>
                <a:cs typeface="Arial"/>
              </a:rPr>
              <a:t>vehicle.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5884" y="2463634"/>
            <a:ext cx="2146338" cy="214633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193184" y="4848542"/>
            <a:ext cx="2597785" cy="622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900"/>
              </a:lnSpc>
              <a:spcBef>
                <a:spcPts val="100"/>
              </a:spcBef>
            </a:pPr>
            <a:r>
              <a:rPr dirty="0" sz="1850">
                <a:solidFill>
                  <a:srgbClr val="2B3541"/>
                </a:solidFill>
                <a:latin typeface="Arial"/>
                <a:cs typeface="Arial"/>
              </a:rPr>
              <a:t>Maintenance</a:t>
            </a:r>
            <a:r>
              <a:rPr dirty="0" sz="18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B3541"/>
                </a:solidFill>
                <a:latin typeface="Arial"/>
                <a:cs typeface="Arial"/>
              </a:rPr>
              <a:t>Scheduling </a:t>
            </a:r>
            <a:r>
              <a:rPr dirty="0" sz="18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850" spc="-10">
                <a:solidFill>
                  <a:srgbClr val="2B3541"/>
                </a:solidFill>
                <a:latin typeface="Arial"/>
                <a:cs typeface="Arial"/>
              </a:rPr>
              <a:t> Reminders</a:t>
            </a:r>
            <a:endParaRPr sz="18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93184" y="5575134"/>
            <a:ext cx="2723515" cy="996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Scheduling</a:t>
            </a:r>
            <a:r>
              <a:rPr dirty="0" sz="16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services,</a:t>
            </a:r>
            <a:r>
              <a:rPr dirty="0" sz="16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B3541"/>
                </a:solidFill>
                <a:latin typeface="Arial"/>
                <a:cs typeface="Arial"/>
              </a:rPr>
              <a:t>with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automatic</a:t>
            </a:r>
            <a:r>
              <a:rPr dirty="0" sz="16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reminders</a:t>
            </a:r>
            <a:r>
              <a:rPr dirty="0" sz="160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via</a:t>
            </a:r>
            <a:r>
              <a:rPr dirty="0" sz="160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B3541"/>
                </a:solidFill>
                <a:latin typeface="Arial"/>
                <a:cs typeface="Arial"/>
              </a:rPr>
              <a:t>email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600" spc="-1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B3541"/>
                </a:solidFill>
                <a:latin typeface="Arial"/>
                <a:cs typeface="Arial"/>
              </a:rPr>
              <a:t>SMS.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43190" y="2463634"/>
            <a:ext cx="2146338" cy="2146338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7430490" y="4848542"/>
            <a:ext cx="1539240" cy="622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900"/>
              </a:lnSpc>
              <a:spcBef>
                <a:spcPts val="100"/>
              </a:spcBef>
            </a:pPr>
            <a:r>
              <a:rPr dirty="0" sz="1850" spc="-10">
                <a:solidFill>
                  <a:srgbClr val="2B3541"/>
                </a:solidFill>
                <a:latin typeface="Arial"/>
                <a:cs typeface="Arial"/>
              </a:rPr>
              <a:t>E-Marketplace (Marketplace)</a:t>
            </a:r>
            <a:endParaRPr sz="18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430490" y="5575134"/>
            <a:ext cx="2914015" cy="996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Buying</a:t>
            </a:r>
            <a:r>
              <a:rPr dirty="0" sz="160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60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selling</a:t>
            </a:r>
            <a:r>
              <a:rPr dirty="0" sz="160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spare</a:t>
            </a:r>
            <a:r>
              <a:rPr dirty="0" sz="160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B3541"/>
                </a:solidFill>
                <a:latin typeface="Arial"/>
                <a:cs typeface="Arial"/>
              </a:rPr>
              <a:t>parts,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payment</a:t>
            </a:r>
            <a:r>
              <a:rPr dirty="0" sz="16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via</a:t>
            </a:r>
            <a:r>
              <a:rPr dirty="0" sz="16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Stripe,</a:t>
            </a:r>
            <a:r>
              <a:rPr dirty="0" sz="16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6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B3541"/>
                </a:solidFill>
                <a:latin typeface="Arial"/>
                <a:cs typeface="Arial"/>
              </a:rPr>
              <a:t>efficient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order</a:t>
            </a:r>
            <a:r>
              <a:rPr dirty="0" sz="16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B3541"/>
                </a:solidFill>
                <a:latin typeface="Arial"/>
                <a:cs typeface="Arial"/>
              </a:rPr>
              <a:t>tracking.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80496" y="2463634"/>
            <a:ext cx="2146338" cy="2146338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0667796" y="4848542"/>
            <a:ext cx="2556510" cy="622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900"/>
              </a:lnSpc>
              <a:spcBef>
                <a:spcPts val="100"/>
              </a:spcBef>
            </a:pPr>
            <a:r>
              <a:rPr dirty="0" sz="1850">
                <a:solidFill>
                  <a:srgbClr val="2B3541"/>
                </a:solidFill>
                <a:latin typeface="Arial"/>
                <a:cs typeface="Arial"/>
              </a:rPr>
              <a:t>Augmented</a:t>
            </a:r>
            <a:r>
              <a:rPr dirty="0" sz="18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B3541"/>
                </a:solidFill>
                <a:latin typeface="Arial"/>
                <a:cs typeface="Arial"/>
              </a:rPr>
              <a:t>Reality</a:t>
            </a:r>
            <a:r>
              <a:rPr dirty="0" sz="18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850" spc="-20">
                <a:solidFill>
                  <a:srgbClr val="2B3541"/>
                </a:solidFill>
                <a:latin typeface="Arial"/>
                <a:cs typeface="Arial"/>
              </a:rPr>
              <a:t>(AR) </a:t>
            </a:r>
            <a:r>
              <a:rPr dirty="0" sz="1850" spc="-10">
                <a:solidFill>
                  <a:srgbClr val="2B3541"/>
                </a:solidFill>
                <a:latin typeface="Arial"/>
                <a:cs typeface="Arial"/>
              </a:rPr>
              <a:t>Experiences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667796" y="5575134"/>
            <a:ext cx="2826385" cy="1320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Pointing</a:t>
            </a:r>
            <a:r>
              <a:rPr dirty="0" sz="160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60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phone</a:t>
            </a:r>
            <a:r>
              <a:rPr dirty="0" sz="160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towards</a:t>
            </a:r>
            <a:r>
              <a:rPr dirty="0" sz="160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the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car</a:t>
            </a:r>
            <a:r>
              <a:rPr dirty="0" sz="160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60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view</a:t>
            </a:r>
            <a:r>
              <a:rPr dirty="0" sz="160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live</a:t>
            </a:r>
            <a:r>
              <a:rPr dirty="0" sz="160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B3541"/>
                </a:solidFill>
                <a:latin typeface="Arial"/>
                <a:cs typeface="Arial"/>
              </a:rPr>
              <a:t>diagnostics,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maintenance</a:t>
            </a:r>
            <a:r>
              <a:rPr dirty="0" sz="160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tips,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B3541"/>
                </a:solidFill>
                <a:latin typeface="Arial"/>
                <a:cs typeface="Arial"/>
              </a:rPr>
              <a:t>part </a:t>
            </a:r>
            <a:r>
              <a:rPr dirty="0" sz="1600" spc="-10">
                <a:solidFill>
                  <a:srgbClr val="2B3541"/>
                </a:solidFill>
                <a:latin typeface="Arial"/>
                <a:cs typeface="Arial"/>
              </a:rPr>
              <a:t>details.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496373" y="7134821"/>
            <a:ext cx="2947670" cy="323850"/>
          </a:xfrm>
          <a:custGeom>
            <a:avLst/>
            <a:gdLst/>
            <a:ahLst/>
            <a:cxnLst/>
            <a:rect l="l" t="t" r="r" b="b"/>
            <a:pathLst>
              <a:path w="2947670" h="323850">
                <a:moveTo>
                  <a:pt x="2947060" y="0"/>
                </a:moveTo>
                <a:lnTo>
                  <a:pt x="0" y="0"/>
                </a:lnTo>
                <a:lnTo>
                  <a:pt x="0" y="323850"/>
                </a:lnTo>
                <a:lnTo>
                  <a:pt x="2947060" y="323850"/>
                </a:lnTo>
                <a:lnTo>
                  <a:pt x="2947060" y="0"/>
                </a:lnTo>
                <a:close/>
              </a:path>
            </a:pathLst>
          </a:custGeom>
          <a:solidFill>
            <a:srgbClr val="ECE8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955992" y="7102778"/>
            <a:ext cx="12336145" cy="688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100"/>
              </a:spcBef>
            </a:pP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600" spc="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platform</a:t>
            </a:r>
            <a:r>
              <a:rPr dirty="0" sz="1600" spc="7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features</a:t>
            </a:r>
            <a:r>
              <a:rPr dirty="0" sz="1600" spc="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B3541"/>
                </a:solidFill>
                <a:latin typeface="Arial"/>
                <a:cs typeface="Arial"/>
              </a:rPr>
              <a:t>Multi-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tenant</a:t>
            </a:r>
            <a:r>
              <a:rPr dirty="0" sz="1600" spc="7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support</a:t>
            </a:r>
            <a:r>
              <a:rPr dirty="0" sz="1600" spc="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where</a:t>
            </a:r>
            <a:r>
              <a:rPr dirty="0" sz="1600" spc="7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each</a:t>
            </a:r>
            <a:r>
              <a:rPr dirty="0" sz="1600" spc="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client</a:t>
            </a:r>
            <a:r>
              <a:rPr dirty="0" sz="1600" spc="7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gets</a:t>
            </a:r>
            <a:r>
              <a:rPr dirty="0" sz="1600" spc="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an</a:t>
            </a:r>
            <a:r>
              <a:rPr dirty="0" sz="1600" spc="7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isolated</a:t>
            </a:r>
            <a:r>
              <a:rPr dirty="0" sz="1600" spc="7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subdomain</a:t>
            </a:r>
            <a:r>
              <a:rPr dirty="0" sz="1600" spc="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(e.g.,</a:t>
            </a:r>
            <a:r>
              <a:rPr dirty="0" sz="1600" spc="1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{tenant}.mycarcommunity.com),</a:t>
            </a:r>
            <a:r>
              <a:rPr dirty="0" sz="1600" spc="7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600" spc="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B3541"/>
                </a:solidFill>
                <a:latin typeface="Arial"/>
                <a:cs typeface="Arial"/>
              </a:rPr>
              <a:t>full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support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for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B3541"/>
                </a:solidFill>
                <a:latin typeface="Arial"/>
                <a:cs typeface="Arial"/>
              </a:rPr>
              <a:t>Dark-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Mode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60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Arabic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B3541"/>
                </a:solidFill>
                <a:latin typeface="Arial"/>
                <a:cs typeface="Arial"/>
              </a:rPr>
              <a:t>language</a:t>
            </a:r>
            <a:r>
              <a:rPr dirty="0" sz="16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B3541"/>
                </a:solidFill>
                <a:latin typeface="Arial"/>
                <a:cs typeface="Arial"/>
              </a:rPr>
              <a:t>(RTL).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992" y="339751"/>
            <a:ext cx="3881754" cy="3683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/>
              <a:t>Key</a:t>
            </a:r>
            <a:r>
              <a:rPr dirty="0" sz="2250" spc="-35"/>
              <a:t> </a:t>
            </a:r>
            <a:r>
              <a:rPr dirty="0" sz="2250"/>
              <a:t>Architectural</a:t>
            </a:r>
            <a:r>
              <a:rPr dirty="0" sz="2250" spc="-20"/>
              <a:t> </a:t>
            </a:r>
            <a:r>
              <a:rPr dirty="0" sz="2250" spc="-10"/>
              <a:t>Components</a:t>
            </a:r>
            <a:endParaRPr sz="2250"/>
          </a:p>
        </p:txBody>
      </p:sp>
      <p:sp>
        <p:nvSpPr>
          <p:cNvPr id="3" name="object 3" descr=""/>
          <p:cNvSpPr txBox="1"/>
          <p:nvPr/>
        </p:nvSpPr>
        <p:spPr>
          <a:xfrm>
            <a:off x="955992" y="986221"/>
            <a:ext cx="926973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platform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is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built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on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modern</a:t>
            </a:r>
            <a:r>
              <a:rPr dirty="0" sz="950" spc="-1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model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focusing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on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scalability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reliability.</a:t>
            </a:r>
            <a:r>
              <a:rPr dirty="0" sz="950" spc="-1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All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services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are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centered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around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an</a:t>
            </a:r>
            <a:r>
              <a:rPr dirty="0" sz="950" spc="-1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API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Gateway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ensure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security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950" spc="-1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proper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request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2B3541"/>
                </a:solidFill>
                <a:latin typeface="Arial"/>
                <a:cs typeface="Arial"/>
              </a:rPr>
              <a:t>routing.</a:t>
            </a:r>
            <a:endParaRPr sz="9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330" y="1285760"/>
            <a:ext cx="8687511" cy="689634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880318" y="4189539"/>
            <a:ext cx="859155" cy="4127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R="5080" indent="48260">
              <a:lnSpc>
                <a:spcPct val="103299"/>
              </a:lnSpc>
              <a:spcBef>
                <a:spcPts val="50"/>
              </a:spcBef>
            </a:pPr>
            <a:r>
              <a:rPr dirty="0" sz="1250" spc="-10">
                <a:solidFill>
                  <a:srgbClr val="FFFFFF"/>
                </a:solidFill>
                <a:latin typeface="Arial"/>
                <a:cs typeface="Arial"/>
              </a:rPr>
              <a:t>Integration Architecture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757115" y="1948650"/>
            <a:ext cx="93916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API</a:t>
            </a:r>
            <a:r>
              <a:rPr dirty="0" sz="12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Gateway</a:t>
            </a:r>
            <a:endParaRPr sz="12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282670" y="2391574"/>
            <a:ext cx="18872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B3541"/>
                </a:solidFill>
                <a:latin typeface="Arial"/>
                <a:cs typeface="Arial"/>
              </a:rPr>
              <a:t>Central</a:t>
            </a:r>
            <a:r>
              <a:rPr dirty="0" sz="10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B3541"/>
                </a:solidFill>
                <a:latin typeface="Arial"/>
                <a:cs typeface="Arial"/>
              </a:rPr>
              <a:t>point</a:t>
            </a:r>
            <a:r>
              <a:rPr dirty="0" sz="10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B3541"/>
                </a:solidFill>
                <a:latin typeface="Arial"/>
                <a:cs typeface="Arial"/>
              </a:rPr>
              <a:t>for</a:t>
            </a:r>
            <a:r>
              <a:rPr dirty="0" sz="105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B3541"/>
                </a:solidFill>
                <a:latin typeface="Arial"/>
                <a:cs typeface="Arial"/>
              </a:rPr>
              <a:t>request</a:t>
            </a:r>
            <a:r>
              <a:rPr dirty="0" sz="10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B3541"/>
                </a:solidFill>
                <a:latin typeface="Arial"/>
                <a:cs typeface="Arial"/>
              </a:rPr>
              <a:t>routing</a:t>
            </a:r>
            <a:endParaRPr sz="10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374208" y="1637881"/>
            <a:ext cx="1961514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Terraform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&amp;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GitHub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Actions</a:t>
            </a:r>
            <a:endParaRPr sz="12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463248" y="2405138"/>
            <a:ext cx="178308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marR="5080" indent="-241300">
              <a:lnSpc>
                <a:spcPct val="107100"/>
              </a:lnSpc>
              <a:spcBef>
                <a:spcPts val="100"/>
              </a:spcBef>
            </a:pPr>
            <a:r>
              <a:rPr dirty="0" sz="1050" spc="-10">
                <a:solidFill>
                  <a:srgbClr val="2B3541"/>
                </a:solidFill>
                <a:latin typeface="Arial"/>
                <a:cs typeface="Arial"/>
              </a:rPr>
              <a:t>Infrastructure</a:t>
            </a:r>
            <a:r>
              <a:rPr dirty="0" sz="1050" spc="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B3541"/>
                </a:solidFill>
                <a:latin typeface="Arial"/>
                <a:cs typeface="Arial"/>
              </a:rPr>
              <a:t>deployment</a:t>
            </a:r>
            <a:r>
              <a:rPr dirty="0" sz="1050" spc="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B3541"/>
                </a:solidFill>
                <a:latin typeface="Arial"/>
                <a:cs typeface="Arial"/>
              </a:rPr>
              <a:t>and </a:t>
            </a:r>
            <a:r>
              <a:rPr dirty="0" sz="1050" spc="-10">
                <a:solidFill>
                  <a:srgbClr val="2B3541"/>
                </a:solidFill>
                <a:latin typeface="Arial"/>
                <a:cs typeface="Arial"/>
              </a:rPr>
              <a:t>automated</a:t>
            </a:r>
            <a:r>
              <a:rPr dirty="0" sz="10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B3541"/>
                </a:solidFill>
                <a:latin typeface="Arial"/>
                <a:cs typeface="Arial"/>
              </a:rPr>
              <a:t>operations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049005" y="6337210"/>
            <a:ext cx="61214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Hangfire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333414" y="6768693"/>
            <a:ext cx="2044064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1045" marR="5080" indent="-741680">
              <a:lnSpc>
                <a:spcPct val="107100"/>
              </a:lnSpc>
              <a:spcBef>
                <a:spcPts val="100"/>
              </a:spcBef>
            </a:pPr>
            <a:r>
              <a:rPr dirty="0" sz="1050" spc="-10">
                <a:solidFill>
                  <a:srgbClr val="2B3541"/>
                </a:solidFill>
                <a:latin typeface="Arial"/>
                <a:cs typeface="Arial"/>
              </a:rPr>
              <a:t>Scheduled</a:t>
            </a:r>
            <a:r>
              <a:rPr dirty="0" sz="1050">
                <a:solidFill>
                  <a:srgbClr val="2B3541"/>
                </a:solidFill>
                <a:latin typeface="Arial"/>
                <a:cs typeface="Arial"/>
              </a:rPr>
              <a:t> tasks</a:t>
            </a:r>
            <a:r>
              <a:rPr dirty="0" sz="1050" spc="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B3541"/>
                </a:solidFill>
                <a:latin typeface="Arial"/>
                <a:cs typeface="Arial"/>
              </a:rPr>
              <a:t>connecting</a:t>
            </a:r>
            <a:r>
              <a:rPr dirty="0" sz="1050">
                <a:solidFill>
                  <a:srgbClr val="2B3541"/>
                </a:solidFill>
                <a:latin typeface="Arial"/>
                <a:cs typeface="Arial"/>
              </a:rPr>
              <a:t> to</a:t>
            </a:r>
            <a:r>
              <a:rPr dirty="0" sz="1050" spc="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B3541"/>
                </a:solidFill>
                <a:latin typeface="Arial"/>
                <a:cs typeface="Arial"/>
              </a:rPr>
              <a:t>the </a:t>
            </a:r>
            <a:r>
              <a:rPr dirty="0" sz="1050" spc="-10">
                <a:solidFill>
                  <a:srgbClr val="2B3541"/>
                </a:solidFill>
                <a:latin typeface="Arial"/>
                <a:cs typeface="Arial"/>
              </a:rPr>
              <a:t>database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562981" y="6479997"/>
            <a:ext cx="132715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EF</a:t>
            </a:r>
            <a:r>
              <a:rPr dirty="0" sz="12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Core</a:t>
            </a:r>
            <a:r>
              <a:rPr dirty="0" sz="12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Database</a:t>
            </a:r>
            <a:endParaRPr sz="12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074993" y="6922922"/>
            <a:ext cx="230187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B3541"/>
                </a:solidFill>
                <a:latin typeface="Arial"/>
                <a:cs typeface="Arial"/>
              </a:rPr>
              <a:t>Data</a:t>
            </a:r>
            <a:r>
              <a:rPr dirty="0" sz="10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B3541"/>
                </a:solidFill>
                <a:latin typeface="Arial"/>
                <a:cs typeface="Arial"/>
              </a:rPr>
              <a:t>management</a:t>
            </a:r>
            <a:r>
              <a:rPr dirty="0" sz="10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0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B3541"/>
                </a:solidFill>
                <a:latin typeface="Arial"/>
                <a:cs typeface="Arial"/>
              </a:rPr>
              <a:t>tenant</a:t>
            </a:r>
            <a:r>
              <a:rPr dirty="0" sz="10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B3541"/>
                </a:solidFill>
                <a:latin typeface="Arial"/>
                <a:cs typeface="Arial"/>
              </a:rPr>
              <a:t>isolation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512100" y="4039806"/>
            <a:ext cx="115570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SignalR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+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Redis</a:t>
            </a:r>
            <a:endParaRPr sz="12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953151" y="4482719"/>
            <a:ext cx="22733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20">
                <a:solidFill>
                  <a:srgbClr val="2B3541"/>
                </a:solidFill>
                <a:latin typeface="Arial"/>
                <a:cs typeface="Arial"/>
              </a:rPr>
              <a:t>Real-</a:t>
            </a:r>
            <a:r>
              <a:rPr dirty="0" sz="1050">
                <a:solidFill>
                  <a:srgbClr val="2B3541"/>
                </a:solidFill>
                <a:latin typeface="Arial"/>
                <a:cs typeface="Arial"/>
              </a:rPr>
              <a:t>time</a:t>
            </a:r>
            <a:r>
              <a:rPr dirty="0" sz="1050" spc="-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B3541"/>
                </a:solidFill>
                <a:latin typeface="Arial"/>
                <a:cs typeface="Arial"/>
              </a:rPr>
              <a:t>communication</a:t>
            </a:r>
            <a:r>
              <a:rPr dirty="0" sz="1050" spc="-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050" spc="-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B3541"/>
                </a:solidFill>
                <a:latin typeface="Arial"/>
                <a:cs typeface="Arial"/>
              </a:rPr>
              <a:t>caching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919577" y="4195292"/>
            <a:ext cx="122174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Stripe</a:t>
            </a:r>
            <a:r>
              <a:rPr dirty="0" sz="125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Webhooks</a:t>
            </a:r>
            <a:endParaRPr sz="12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408501" y="4638205"/>
            <a:ext cx="22434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B3541"/>
                </a:solidFill>
                <a:latin typeface="Arial"/>
                <a:cs typeface="Arial"/>
              </a:rPr>
              <a:t>Payment</a:t>
            </a:r>
            <a:r>
              <a:rPr dirty="0" sz="10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B3541"/>
                </a:solidFill>
                <a:latin typeface="Arial"/>
                <a:cs typeface="Arial"/>
              </a:rPr>
              <a:t>notifications</a:t>
            </a:r>
            <a:r>
              <a:rPr dirty="0" sz="10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0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B3541"/>
                </a:solidFill>
                <a:latin typeface="Arial"/>
                <a:cs typeface="Arial"/>
              </a:rPr>
              <a:t>API</a:t>
            </a:r>
            <a:r>
              <a:rPr dirty="0" sz="10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B3541"/>
                </a:solidFill>
                <a:latin typeface="Arial"/>
                <a:cs typeface="Arial"/>
              </a:rPr>
              <a:t>Gateway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992" y="596910"/>
            <a:ext cx="535876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14040" algn="l"/>
                <a:tab pos="4102735" algn="l"/>
              </a:tabLst>
            </a:pPr>
            <a:r>
              <a:rPr dirty="0" spc="-10"/>
              <a:t>Prerequisites</a:t>
            </a:r>
            <a:r>
              <a:rPr dirty="0"/>
              <a:t>	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10"/>
              <a:t>Tools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55992" y="1646745"/>
            <a:ext cx="1237615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100"/>
              </a:spcBef>
            </a:pP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begin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working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on</a:t>
            </a:r>
            <a:r>
              <a:rPr dirty="0" sz="17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project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locally,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a</a:t>
            </a:r>
            <a:r>
              <a:rPr dirty="0" sz="17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specific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set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of</a:t>
            </a:r>
            <a:r>
              <a:rPr dirty="0" sz="17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tools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must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be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installed</a:t>
            </a:r>
            <a:r>
              <a:rPr dirty="0" sz="17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ensure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environment</a:t>
            </a:r>
            <a:r>
              <a:rPr dirty="0" sz="17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compatibility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with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ASP.NET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Core</a:t>
            </a:r>
            <a:r>
              <a:rPr dirty="0" sz="17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9</a:t>
            </a:r>
            <a:r>
              <a:rPr dirty="0" sz="17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7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Angular</a:t>
            </a:r>
            <a:r>
              <a:rPr dirty="0" sz="17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18</a:t>
            </a:r>
            <a:r>
              <a:rPr dirty="0" sz="17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requirements.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968692" y="2599613"/>
            <a:ext cx="4086860" cy="2571115"/>
            <a:chOff x="968692" y="2599613"/>
            <a:chExt cx="4086860" cy="2571115"/>
          </a:xfrm>
        </p:grpSpPr>
        <p:sp>
          <p:nvSpPr>
            <p:cNvPr id="5" name="object 5" descr=""/>
            <p:cNvSpPr/>
            <p:nvPr/>
          </p:nvSpPr>
          <p:spPr>
            <a:xfrm>
              <a:off x="968692" y="2924175"/>
              <a:ext cx="4086860" cy="2245995"/>
            </a:xfrm>
            <a:custGeom>
              <a:avLst/>
              <a:gdLst/>
              <a:ahLst/>
              <a:cxnLst/>
              <a:rect l="l" t="t" r="r" b="b"/>
              <a:pathLst>
                <a:path w="4086860" h="2245995">
                  <a:moveTo>
                    <a:pt x="3940390" y="0"/>
                  </a:moveTo>
                  <a:lnTo>
                    <a:pt x="146304" y="0"/>
                  </a:lnTo>
                  <a:lnTo>
                    <a:pt x="100268" y="7510"/>
                  </a:lnTo>
                  <a:lnTo>
                    <a:pt x="60132" y="28382"/>
                  </a:lnTo>
                  <a:lnTo>
                    <a:pt x="28384" y="60130"/>
                  </a:lnTo>
                  <a:lnTo>
                    <a:pt x="7510" y="100267"/>
                  </a:lnTo>
                  <a:lnTo>
                    <a:pt x="0" y="146303"/>
                  </a:lnTo>
                  <a:lnTo>
                    <a:pt x="0" y="2099691"/>
                  </a:lnTo>
                  <a:lnTo>
                    <a:pt x="7510" y="2145727"/>
                  </a:lnTo>
                  <a:lnTo>
                    <a:pt x="28384" y="2185864"/>
                  </a:lnTo>
                  <a:lnTo>
                    <a:pt x="60132" y="2217612"/>
                  </a:lnTo>
                  <a:lnTo>
                    <a:pt x="100268" y="2238484"/>
                  </a:lnTo>
                  <a:lnTo>
                    <a:pt x="146304" y="2245995"/>
                  </a:lnTo>
                  <a:lnTo>
                    <a:pt x="3940390" y="2245995"/>
                  </a:lnTo>
                  <a:lnTo>
                    <a:pt x="3986427" y="2238484"/>
                  </a:lnTo>
                  <a:lnTo>
                    <a:pt x="4026563" y="2217612"/>
                  </a:lnTo>
                  <a:lnTo>
                    <a:pt x="4058311" y="2185864"/>
                  </a:lnTo>
                  <a:lnTo>
                    <a:pt x="4079184" y="2145727"/>
                  </a:lnTo>
                  <a:lnTo>
                    <a:pt x="4086694" y="2099691"/>
                  </a:lnTo>
                  <a:lnTo>
                    <a:pt x="4086694" y="146303"/>
                  </a:lnTo>
                  <a:lnTo>
                    <a:pt x="4079184" y="100267"/>
                  </a:lnTo>
                  <a:lnTo>
                    <a:pt x="4058311" y="60130"/>
                  </a:lnTo>
                  <a:lnTo>
                    <a:pt x="4026563" y="28382"/>
                  </a:lnTo>
                  <a:lnTo>
                    <a:pt x="3986427" y="7510"/>
                  </a:lnTo>
                  <a:lnTo>
                    <a:pt x="3940390" y="0"/>
                  </a:lnTo>
                  <a:close/>
                </a:path>
              </a:pathLst>
            </a:custGeom>
            <a:solidFill>
              <a:srgbClr val="F9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68692" y="2599613"/>
              <a:ext cx="4086860" cy="649605"/>
            </a:xfrm>
            <a:custGeom>
              <a:avLst/>
              <a:gdLst/>
              <a:ahLst/>
              <a:cxnLst/>
              <a:rect l="l" t="t" r="r" b="b"/>
              <a:pathLst>
                <a:path w="4086860" h="649605">
                  <a:moveTo>
                    <a:pt x="4086695" y="355041"/>
                  </a:moveTo>
                  <a:lnTo>
                    <a:pt x="4081869" y="331419"/>
                  </a:lnTo>
                  <a:lnTo>
                    <a:pt x="4068749" y="312026"/>
                  </a:lnTo>
                  <a:lnTo>
                    <a:pt x="4049369" y="298907"/>
                  </a:lnTo>
                  <a:lnTo>
                    <a:pt x="4025735" y="294081"/>
                  </a:lnTo>
                  <a:lnTo>
                    <a:pt x="2365641" y="294081"/>
                  </a:lnTo>
                  <a:lnTo>
                    <a:pt x="2364371" y="276872"/>
                  </a:lnTo>
                  <a:lnTo>
                    <a:pt x="2354072" y="231267"/>
                  </a:lnTo>
                  <a:lnTo>
                    <a:pt x="2337549" y="188252"/>
                  </a:lnTo>
                  <a:lnTo>
                    <a:pt x="2315324" y="148374"/>
                  </a:lnTo>
                  <a:lnTo>
                    <a:pt x="2287905" y="112115"/>
                  </a:lnTo>
                  <a:lnTo>
                    <a:pt x="2255799" y="80022"/>
                  </a:lnTo>
                  <a:lnTo>
                    <a:pt x="2219553" y="52603"/>
                  </a:lnTo>
                  <a:lnTo>
                    <a:pt x="2179663" y="30365"/>
                  </a:lnTo>
                  <a:lnTo>
                    <a:pt x="2136648" y="13843"/>
                  </a:lnTo>
                  <a:lnTo>
                    <a:pt x="2091042" y="3556"/>
                  </a:lnTo>
                  <a:lnTo>
                    <a:pt x="2043353" y="0"/>
                  </a:lnTo>
                  <a:lnTo>
                    <a:pt x="1995665" y="3556"/>
                  </a:lnTo>
                  <a:lnTo>
                    <a:pt x="1950046" y="13843"/>
                  </a:lnTo>
                  <a:lnTo>
                    <a:pt x="1907044" y="30365"/>
                  </a:lnTo>
                  <a:lnTo>
                    <a:pt x="1867154" y="52603"/>
                  </a:lnTo>
                  <a:lnTo>
                    <a:pt x="1830895" y="80022"/>
                  </a:lnTo>
                  <a:lnTo>
                    <a:pt x="1798802" y="112115"/>
                  </a:lnTo>
                  <a:lnTo>
                    <a:pt x="1771383" y="148374"/>
                  </a:lnTo>
                  <a:lnTo>
                    <a:pt x="1749145" y="188252"/>
                  </a:lnTo>
                  <a:lnTo>
                    <a:pt x="1732622" y="231267"/>
                  </a:lnTo>
                  <a:lnTo>
                    <a:pt x="1722335" y="276872"/>
                  </a:lnTo>
                  <a:lnTo>
                    <a:pt x="1721053" y="294081"/>
                  </a:lnTo>
                  <a:lnTo>
                    <a:pt x="60947" y="294081"/>
                  </a:lnTo>
                  <a:lnTo>
                    <a:pt x="37325" y="298907"/>
                  </a:lnTo>
                  <a:lnTo>
                    <a:pt x="17932" y="312026"/>
                  </a:lnTo>
                  <a:lnTo>
                    <a:pt x="4813" y="331419"/>
                  </a:lnTo>
                  <a:lnTo>
                    <a:pt x="0" y="355041"/>
                  </a:lnTo>
                  <a:lnTo>
                    <a:pt x="4813" y="378675"/>
                  </a:lnTo>
                  <a:lnTo>
                    <a:pt x="17932" y="398068"/>
                  </a:lnTo>
                  <a:lnTo>
                    <a:pt x="37325" y="411187"/>
                  </a:lnTo>
                  <a:lnTo>
                    <a:pt x="60947" y="416001"/>
                  </a:lnTo>
                  <a:lnTo>
                    <a:pt x="1732191" y="416001"/>
                  </a:lnTo>
                  <a:lnTo>
                    <a:pt x="1732622" y="417868"/>
                  </a:lnTo>
                  <a:lnTo>
                    <a:pt x="1749145" y="460883"/>
                  </a:lnTo>
                  <a:lnTo>
                    <a:pt x="1771383" y="500773"/>
                  </a:lnTo>
                  <a:lnTo>
                    <a:pt x="1798802" y="537019"/>
                  </a:lnTo>
                  <a:lnTo>
                    <a:pt x="1830895" y="569125"/>
                  </a:lnTo>
                  <a:lnTo>
                    <a:pt x="1867154" y="596544"/>
                  </a:lnTo>
                  <a:lnTo>
                    <a:pt x="1907044" y="618782"/>
                  </a:lnTo>
                  <a:lnTo>
                    <a:pt x="1950046" y="635304"/>
                  </a:lnTo>
                  <a:lnTo>
                    <a:pt x="1995665" y="645591"/>
                  </a:lnTo>
                  <a:lnTo>
                    <a:pt x="2043353" y="649135"/>
                  </a:lnTo>
                  <a:lnTo>
                    <a:pt x="2091042" y="645591"/>
                  </a:lnTo>
                  <a:lnTo>
                    <a:pt x="2136648" y="635304"/>
                  </a:lnTo>
                  <a:lnTo>
                    <a:pt x="2179663" y="618782"/>
                  </a:lnTo>
                  <a:lnTo>
                    <a:pt x="2219553" y="596544"/>
                  </a:lnTo>
                  <a:lnTo>
                    <a:pt x="2255799" y="569125"/>
                  </a:lnTo>
                  <a:lnTo>
                    <a:pt x="2287905" y="537019"/>
                  </a:lnTo>
                  <a:lnTo>
                    <a:pt x="2315324" y="500773"/>
                  </a:lnTo>
                  <a:lnTo>
                    <a:pt x="2337549" y="460883"/>
                  </a:lnTo>
                  <a:lnTo>
                    <a:pt x="2354072" y="417868"/>
                  </a:lnTo>
                  <a:lnTo>
                    <a:pt x="2354491" y="416001"/>
                  </a:lnTo>
                  <a:lnTo>
                    <a:pt x="4025735" y="416001"/>
                  </a:lnTo>
                  <a:lnTo>
                    <a:pt x="4049369" y="411187"/>
                  </a:lnTo>
                  <a:lnTo>
                    <a:pt x="4068749" y="398068"/>
                  </a:lnTo>
                  <a:lnTo>
                    <a:pt x="4081869" y="378675"/>
                  </a:lnTo>
                  <a:lnTo>
                    <a:pt x="4086695" y="355041"/>
                  </a:lnTo>
                  <a:close/>
                </a:path>
              </a:pathLst>
            </a:custGeom>
            <a:solidFill>
              <a:srgbClr val="3370A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2265" y="2794393"/>
              <a:ext cx="259556" cy="259549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202808" y="3459708"/>
            <a:ext cx="1896745" cy="804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.NET</a:t>
            </a:r>
            <a:r>
              <a:rPr dirty="0" sz="20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SDK</a:t>
            </a:r>
            <a:r>
              <a:rPr dirty="0" sz="20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2B3541"/>
                </a:solidFill>
                <a:latin typeface="Arial"/>
                <a:cs typeface="Arial"/>
              </a:rPr>
              <a:t>9.0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Or</a:t>
            </a:r>
            <a:r>
              <a:rPr dirty="0" sz="17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.NET</a:t>
            </a:r>
            <a:r>
              <a:rPr dirty="0" sz="17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8</a:t>
            </a:r>
            <a:r>
              <a:rPr dirty="0" sz="170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LTS</a:t>
            </a:r>
            <a:r>
              <a:rPr dirty="0" sz="170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2B3541"/>
                </a:solidFill>
                <a:latin typeface="Arial"/>
                <a:cs typeface="Arial"/>
              </a:rPr>
              <a:t>with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15508" y="4255884"/>
            <a:ext cx="1784985" cy="34290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TargetFramework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47432" y="4314441"/>
            <a:ext cx="12357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modification.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271731" y="2599613"/>
            <a:ext cx="4086860" cy="2571115"/>
            <a:chOff x="5271731" y="2599613"/>
            <a:chExt cx="4086860" cy="2571115"/>
          </a:xfrm>
        </p:grpSpPr>
        <p:sp>
          <p:nvSpPr>
            <p:cNvPr id="12" name="object 12" descr=""/>
            <p:cNvSpPr/>
            <p:nvPr/>
          </p:nvSpPr>
          <p:spPr>
            <a:xfrm>
              <a:off x="5271731" y="2924175"/>
              <a:ext cx="4086860" cy="2245995"/>
            </a:xfrm>
            <a:custGeom>
              <a:avLst/>
              <a:gdLst/>
              <a:ahLst/>
              <a:cxnLst/>
              <a:rect l="l" t="t" r="r" b="b"/>
              <a:pathLst>
                <a:path w="4086859" h="2245995">
                  <a:moveTo>
                    <a:pt x="3940390" y="0"/>
                  </a:moveTo>
                  <a:lnTo>
                    <a:pt x="146304" y="0"/>
                  </a:lnTo>
                  <a:lnTo>
                    <a:pt x="100268" y="7510"/>
                  </a:lnTo>
                  <a:lnTo>
                    <a:pt x="60132" y="28382"/>
                  </a:lnTo>
                  <a:lnTo>
                    <a:pt x="28384" y="60130"/>
                  </a:lnTo>
                  <a:lnTo>
                    <a:pt x="7510" y="100267"/>
                  </a:lnTo>
                  <a:lnTo>
                    <a:pt x="0" y="146303"/>
                  </a:lnTo>
                  <a:lnTo>
                    <a:pt x="0" y="2099691"/>
                  </a:lnTo>
                  <a:lnTo>
                    <a:pt x="7510" y="2145727"/>
                  </a:lnTo>
                  <a:lnTo>
                    <a:pt x="28384" y="2185864"/>
                  </a:lnTo>
                  <a:lnTo>
                    <a:pt x="60132" y="2217612"/>
                  </a:lnTo>
                  <a:lnTo>
                    <a:pt x="100268" y="2238484"/>
                  </a:lnTo>
                  <a:lnTo>
                    <a:pt x="146304" y="2245995"/>
                  </a:lnTo>
                  <a:lnTo>
                    <a:pt x="3940390" y="2245995"/>
                  </a:lnTo>
                  <a:lnTo>
                    <a:pt x="3986427" y="2238484"/>
                  </a:lnTo>
                  <a:lnTo>
                    <a:pt x="4026563" y="2217612"/>
                  </a:lnTo>
                  <a:lnTo>
                    <a:pt x="4058311" y="2185864"/>
                  </a:lnTo>
                  <a:lnTo>
                    <a:pt x="4079184" y="2145727"/>
                  </a:lnTo>
                  <a:lnTo>
                    <a:pt x="4086694" y="2099691"/>
                  </a:lnTo>
                  <a:lnTo>
                    <a:pt x="4086694" y="146303"/>
                  </a:lnTo>
                  <a:lnTo>
                    <a:pt x="4079184" y="100267"/>
                  </a:lnTo>
                  <a:lnTo>
                    <a:pt x="4058311" y="60130"/>
                  </a:lnTo>
                  <a:lnTo>
                    <a:pt x="4026563" y="28382"/>
                  </a:lnTo>
                  <a:lnTo>
                    <a:pt x="3986427" y="7510"/>
                  </a:lnTo>
                  <a:lnTo>
                    <a:pt x="3940390" y="0"/>
                  </a:lnTo>
                  <a:close/>
                </a:path>
              </a:pathLst>
            </a:custGeom>
            <a:solidFill>
              <a:srgbClr val="F9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271731" y="2599613"/>
              <a:ext cx="4086860" cy="649605"/>
            </a:xfrm>
            <a:custGeom>
              <a:avLst/>
              <a:gdLst/>
              <a:ahLst/>
              <a:cxnLst/>
              <a:rect l="l" t="t" r="r" b="b"/>
              <a:pathLst>
                <a:path w="4086859" h="649605">
                  <a:moveTo>
                    <a:pt x="4086695" y="355041"/>
                  </a:moveTo>
                  <a:lnTo>
                    <a:pt x="4081869" y="331419"/>
                  </a:lnTo>
                  <a:lnTo>
                    <a:pt x="4068749" y="312026"/>
                  </a:lnTo>
                  <a:lnTo>
                    <a:pt x="4049369" y="298907"/>
                  </a:lnTo>
                  <a:lnTo>
                    <a:pt x="4025735" y="294081"/>
                  </a:lnTo>
                  <a:lnTo>
                    <a:pt x="2365629" y="294081"/>
                  </a:lnTo>
                  <a:lnTo>
                    <a:pt x="2364359" y="276872"/>
                  </a:lnTo>
                  <a:lnTo>
                    <a:pt x="2354059" y="231267"/>
                  </a:lnTo>
                  <a:lnTo>
                    <a:pt x="2337536" y="188252"/>
                  </a:lnTo>
                  <a:lnTo>
                    <a:pt x="2315311" y="148374"/>
                  </a:lnTo>
                  <a:lnTo>
                    <a:pt x="2287892" y="112115"/>
                  </a:lnTo>
                  <a:lnTo>
                    <a:pt x="2255786" y="80022"/>
                  </a:lnTo>
                  <a:lnTo>
                    <a:pt x="2219541" y="52603"/>
                  </a:lnTo>
                  <a:lnTo>
                    <a:pt x="2179650" y="30365"/>
                  </a:lnTo>
                  <a:lnTo>
                    <a:pt x="2136635" y="13843"/>
                  </a:lnTo>
                  <a:lnTo>
                    <a:pt x="2091029" y="3556"/>
                  </a:lnTo>
                  <a:lnTo>
                    <a:pt x="2043341" y="0"/>
                  </a:lnTo>
                  <a:lnTo>
                    <a:pt x="1995652" y="3556"/>
                  </a:lnTo>
                  <a:lnTo>
                    <a:pt x="1950034" y="13843"/>
                  </a:lnTo>
                  <a:lnTo>
                    <a:pt x="1907032" y="30365"/>
                  </a:lnTo>
                  <a:lnTo>
                    <a:pt x="1867141" y="52603"/>
                  </a:lnTo>
                  <a:lnTo>
                    <a:pt x="1830882" y="80022"/>
                  </a:lnTo>
                  <a:lnTo>
                    <a:pt x="1798789" y="112115"/>
                  </a:lnTo>
                  <a:lnTo>
                    <a:pt x="1771370" y="148374"/>
                  </a:lnTo>
                  <a:lnTo>
                    <a:pt x="1749132" y="188252"/>
                  </a:lnTo>
                  <a:lnTo>
                    <a:pt x="1732610" y="231267"/>
                  </a:lnTo>
                  <a:lnTo>
                    <a:pt x="1722323" y="276872"/>
                  </a:lnTo>
                  <a:lnTo>
                    <a:pt x="1721040" y="294081"/>
                  </a:lnTo>
                  <a:lnTo>
                    <a:pt x="60947" y="294081"/>
                  </a:lnTo>
                  <a:lnTo>
                    <a:pt x="37325" y="298907"/>
                  </a:lnTo>
                  <a:lnTo>
                    <a:pt x="17932" y="312026"/>
                  </a:lnTo>
                  <a:lnTo>
                    <a:pt x="4813" y="331419"/>
                  </a:lnTo>
                  <a:lnTo>
                    <a:pt x="0" y="355041"/>
                  </a:lnTo>
                  <a:lnTo>
                    <a:pt x="4813" y="378675"/>
                  </a:lnTo>
                  <a:lnTo>
                    <a:pt x="17932" y="398068"/>
                  </a:lnTo>
                  <a:lnTo>
                    <a:pt x="37325" y="411187"/>
                  </a:lnTo>
                  <a:lnTo>
                    <a:pt x="60947" y="416001"/>
                  </a:lnTo>
                  <a:lnTo>
                    <a:pt x="1732178" y="416001"/>
                  </a:lnTo>
                  <a:lnTo>
                    <a:pt x="1732610" y="417868"/>
                  </a:lnTo>
                  <a:lnTo>
                    <a:pt x="1749132" y="460883"/>
                  </a:lnTo>
                  <a:lnTo>
                    <a:pt x="1771370" y="500773"/>
                  </a:lnTo>
                  <a:lnTo>
                    <a:pt x="1798789" y="537019"/>
                  </a:lnTo>
                  <a:lnTo>
                    <a:pt x="1830882" y="569125"/>
                  </a:lnTo>
                  <a:lnTo>
                    <a:pt x="1867141" y="596544"/>
                  </a:lnTo>
                  <a:lnTo>
                    <a:pt x="1907032" y="618782"/>
                  </a:lnTo>
                  <a:lnTo>
                    <a:pt x="1950034" y="635304"/>
                  </a:lnTo>
                  <a:lnTo>
                    <a:pt x="1995652" y="645591"/>
                  </a:lnTo>
                  <a:lnTo>
                    <a:pt x="2043341" y="649135"/>
                  </a:lnTo>
                  <a:lnTo>
                    <a:pt x="2091029" y="645591"/>
                  </a:lnTo>
                  <a:lnTo>
                    <a:pt x="2136635" y="635304"/>
                  </a:lnTo>
                  <a:lnTo>
                    <a:pt x="2179650" y="618782"/>
                  </a:lnTo>
                  <a:lnTo>
                    <a:pt x="2219541" y="596544"/>
                  </a:lnTo>
                  <a:lnTo>
                    <a:pt x="2255786" y="569125"/>
                  </a:lnTo>
                  <a:lnTo>
                    <a:pt x="2287892" y="537019"/>
                  </a:lnTo>
                  <a:lnTo>
                    <a:pt x="2315311" y="500773"/>
                  </a:lnTo>
                  <a:lnTo>
                    <a:pt x="2337536" y="460883"/>
                  </a:lnTo>
                  <a:lnTo>
                    <a:pt x="2354059" y="417868"/>
                  </a:lnTo>
                  <a:lnTo>
                    <a:pt x="2354478" y="416001"/>
                  </a:lnTo>
                  <a:lnTo>
                    <a:pt x="4025735" y="416001"/>
                  </a:lnTo>
                  <a:lnTo>
                    <a:pt x="4049369" y="411187"/>
                  </a:lnTo>
                  <a:lnTo>
                    <a:pt x="4068749" y="398068"/>
                  </a:lnTo>
                  <a:lnTo>
                    <a:pt x="4081869" y="378675"/>
                  </a:lnTo>
                  <a:lnTo>
                    <a:pt x="4086695" y="355041"/>
                  </a:lnTo>
                  <a:close/>
                </a:path>
              </a:pathLst>
            </a:custGeom>
            <a:solidFill>
              <a:srgbClr val="3370A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85304" y="2794393"/>
              <a:ext cx="259556" cy="259549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5505843" y="3459708"/>
            <a:ext cx="3253740" cy="1147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Node.js</a:t>
            </a:r>
            <a:r>
              <a:rPr dirty="0" sz="20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20.x</a:t>
            </a:r>
            <a:r>
              <a:rPr dirty="0" sz="20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2B3541"/>
                </a:solidFill>
                <a:latin typeface="Arial"/>
                <a:cs typeface="Arial"/>
              </a:rPr>
              <a:t>LTS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32400"/>
              </a:lnSpc>
              <a:spcBef>
                <a:spcPts val="1030"/>
              </a:spcBef>
            </a:pP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Required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run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build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Angular applications.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9574771" y="2599613"/>
            <a:ext cx="4086860" cy="2571115"/>
            <a:chOff x="9574771" y="2599613"/>
            <a:chExt cx="4086860" cy="2571115"/>
          </a:xfrm>
        </p:grpSpPr>
        <p:sp>
          <p:nvSpPr>
            <p:cNvPr id="17" name="object 17" descr=""/>
            <p:cNvSpPr/>
            <p:nvPr/>
          </p:nvSpPr>
          <p:spPr>
            <a:xfrm>
              <a:off x="9574771" y="2924175"/>
              <a:ext cx="4086860" cy="2245995"/>
            </a:xfrm>
            <a:custGeom>
              <a:avLst/>
              <a:gdLst/>
              <a:ahLst/>
              <a:cxnLst/>
              <a:rect l="l" t="t" r="r" b="b"/>
              <a:pathLst>
                <a:path w="4086859" h="2245995">
                  <a:moveTo>
                    <a:pt x="3940517" y="0"/>
                  </a:moveTo>
                  <a:lnTo>
                    <a:pt x="146304" y="0"/>
                  </a:lnTo>
                  <a:lnTo>
                    <a:pt x="100268" y="7510"/>
                  </a:lnTo>
                  <a:lnTo>
                    <a:pt x="60132" y="28382"/>
                  </a:lnTo>
                  <a:lnTo>
                    <a:pt x="28384" y="60130"/>
                  </a:lnTo>
                  <a:lnTo>
                    <a:pt x="7510" y="100267"/>
                  </a:lnTo>
                  <a:lnTo>
                    <a:pt x="0" y="146303"/>
                  </a:lnTo>
                  <a:lnTo>
                    <a:pt x="0" y="2099691"/>
                  </a:lnTo>
                  <a:lnTo>
                    <a:pt x="7510" y="2145727"/>
                  </a:lnTo>
                  <a:lnTo>
                    <a:pt x="28384" y="2185864"/>
                  </a:lnTo>
                  <a:lnTo>
                    <a:pt x="60132" y="2217612"/>
                  </a:lnTo>
                  <a:lnTo>
                    <a:pt x="100268" y="2238484"/>
                  </a:lnTo>
                  <a:lnTo>
                    <a:pt x="146304" y="2245995"/>
                  </a:lnTo>
                  <a:lnTo>
                    <a:pt x="3940517" y="2245995"/>
                  </a:lnTo>
                  <a:lnTo>
                    <a:pt x="3986554" y="2238484"/>
                  </a:lnTo>
                  <a:lnTo>
                    <a:pt x="4026690" y="2217612"/>
                  </a:lnTo>
                  <a:lnTo>
                    <a:pt x="4058438" y="2185864"/>
                  </a:lnTo>
                  <a:lnTo>
                    <a:pt x="4079311" y="2145727"/>
                  </a:lnTo>
                  <a:lnTo>
                    <a:pt x="4086821" y="2099691"/>
                  </a:lnTo>
                  <a:lnTo>
                    <a:pt x="4086821" y="146303"/>
                  </a:lnTo>
                  <a:lnTo>
                    <a:pt x="4079311" y="100267"/>
                  </a:lnTo>
                  <a:lnTo>
                    <a:pt x="4058438" y="60130"/>
                  </a:lnTo>
                  <a:lnTo>
                    <a:pt x="4026690" y="28382"/>
                  </a:lnTo>
                  <a:lnTo>
                    <a:pt x="3986554" y="7510"/>
                  </a:lnTo>
                  <a:lnTo>
                    <a:pt x="3940517" y="0"/>
                  </a:lnTo>
                  <a:close/>
                </a:path>
              </a:pathLst>
            </a:custGeom>
            <a:solidFill>
              <a:srgbClr val="F9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574771" y="2599613"/>
              <a:ext cx="4086860" cy="649605"/>
            </a:xfrm>
            <a:custGeom>
              <a:avLst/>
              <a:gdLst/>
              <a:ahLst/>
              <a:cxnLst/>
              <a:rect l="l" t="t" r="r" b="b"/>
              <a:pathLst>
                <a:path w="4086859" h="649605">
                  <a:moveTo>
                    <a:pt x="4086822" y="355041"/>
                  </a:moveTo>
                  <a:lnTo>
                    <a:pt x="4081996" y="331419"/>
                  </a:lnTo>
                  <a:lnTo>
                    <a:pt x="4068876" y="312026"/>
                  </a:lnTo>
                  <a:lnTo>
                    <a:pt x="4049484" y="298907"/>
                  </a:lnTo>
                  <a:lnTo>
                    <a:pt x="4025862" y="294081"/>
                  </a:lnTo>
                  <a:lnTo>
                    <a:pt x="2365629" y="294081"/>
                  </a:lnTo>
                  <a:lnTo>
                    <a:pt x="2364359" y="276872"/>
                  </a:lnTo>
                  <a:lnTo>
                    <a:pt x="2354059" y="231267"/>
                  </a:lnTo>
                  <a:lnTo>
                    <a:pt x="2337536" y="188252"/>
                  </a:lnTo>
                  <a:lnTo>
                    <a:pt x="2315311" y="148374"/>
                  </a:lnTo>
                  <a:lnTo>
                    <a:pt x="2287892" y="112115"/>
                  </a:lnTo>
                  <a:lnTo>
                    <a:pt x="2255786" y="80022"/>
                  </a:lnTo>
                  <a:lnTo>
                    <a:pt x="2219541" y="52603"/>
                  </a:lnTo>
                  <a:lnTo>
                    <a:pt x="2179650" y="30365"/>
                  </a:lnTo>
                  <a:lnTo>
                    <a:pt x="2136635" y="13843"/>
                  </a:lnTo>
                  <a:lnTo>
                    <a:pt x="2091029" y="3556"/>
                  </a:lnTo>
                  <a:lnTo>
                    <a:pt x="2043341" y="0"/>
                  </a:lnTo>
                  <a:lnTo>
                    <a:pt x="1995652" y="3556"/>
                  </a:lnTo>
                  <a:lnTo>
                    <a:pt x="1950034" y="13843"/>
                  </a:lnTo>
                  <a:lnTo>
                    <a:pt x="1907032" y="30365"/>
                  </a:lnTo>
                  <a:lnTo>
                    <a:pt x="1867141" y="52603"/>
                  </a:lnTo>
                  <a:lnTo>
                    <a:pt x="1830882" y="80022"/>
                  </a:lnTo>
                  <a:lnTo>
                    <a:pt x="1798789" y="112115"/>
                  </a:lnTo>
                  <a:lnTo>
                    <a:pt x="1771370" y="148374"/>
                  </a:lnTo>
                  <a:lnTo>
                    <a:pt x="1749132" y="188252"/>
                  </a:lnTo>
                  <a:lnTo>
                    <a:pt x="1732610" y="231267"/>
                  </a:lnTo>
                  <a:lnTo>
                    <a:pt x="1722323" y="276872"/>
                  </a:lnTo>
                  <a:lnTo>
                    <a:pt x="1721040" y="294081"/>
                  </a:lnTo>
                  <a:lnTo>
                    <a:pt x="60947" y="294081"/>
                  </a:lnTo>
                  <a:lnTo>
                    <a:pt x="37325" y="298907"/>
                  </a:lnTo>
                  <a:lnTo>
                    <a:pt x="17932" y="312026"/>
                  </a:lnTo>
                  <a:lnTo>
                    <a:pt x="4813" y="331419"/>
                  </a:lnTo>
                  <a:lnTo>
                    <a:pt x="0" y="355041"/>
                  </a:lnTo>
                  <a:lnTo>
                    <a:pt x="4813" y="378675"/>
                  </a:lnTo>
                  <a:lnTo>
                    <a:pt x="17932" y="398068"/>
                  </a:lnTo>
                  <a:lnTo>
                    <a:pt x="37325" y="411187"/>
                  </a:lnTo>
                  <a:lnTo>
                    <a:pt x="60947" y="416001"/>
                  </a:lnTo>
                  <a:lnTo>
                    <a:pt x="1732178" y="416001"/>
                  </a:lnTo>
                  <a:lnTo>
                    <a:pt x="1732610" y="417868"/>
                  </a:lnTo>
                  <a:lnTo>
                    <a:pt x="1749132" y="460883"/>
                  </a:lnTo>
                  <a:lnTo>
                    <a:pt x="1771370" y="500773"/>
                  </a:lnTo>
                  <a:lnTo>
                    <a:pt x="1798789" y="537019"/>
                  </a:lnTo>
                  <a:lnTo>
                    <a:pt x="1830882" y="569125"/>
                  </a:lnTo>
                  <a:lnTo>
                    <a:pt x="1867141" y="596544"/>
                  </a:lnTo>
                  <a:lnTo>
                    <a:pt x="1907032" y="618782"/>
                  </a:lnTo>
                  <a:lnTo>
                    <a:pt x="1950034" y="635304"/>
                  </a:lnTo>
                  <a:lnTo>
                    <a:pt x="1995652" y="645591"/>
                  </a:lnTo>
                  <a:lnTo>
                    <a:pt x="2043341" y="649135"/>
                  </a:lnTo>
                  <a:lnTo>
                    <a:pt x="2091029" y="645591"/>
                  </a:lnTo>
                  <a:lnTo>
                    <a:pt x="2136635" y="635304"/>
                  </a:lnTo>
                  <a:lnTo>
                    <a:pt x="2179650" y="618782"/>
                  </a:lnTo>
                  <a:lnTo>
                    <a:pt x="2219541" y="596544"/>
                  </a:lnTo>
                  <a:lnTo>
                    <a:pt x="2255786" y="569125"/>
                  </a:lnTo>
                  <a:lnTo>
                    <a:pt x="2287892" y="537019"/>
                  </a:lnTo>
                  <a:lnTo>
                    <a:pt x="2315311" y="500773"/>
                  </a:lnTo>
                  <a:lnTo>
                    <a:pt x="2337536" y="460883"/>
                  </a:lnTo>
                  <a:lnTo>
                    <a:pt x="2354059" y="417868"/>
                  </a:lnTo>
                  <a:lnTo>
                    <a:pt x="2354478" y="416001"/>
                  </a:lnTo>
                  <a:lnTo>
                    <a:pt x="4025862" y="416001"/>
                  </a:lnTo>
                  <a:lnTo>
                    <a:pt x="4049484" y="411187"/>
                  </a:lnTo>
                  <a:lnTo>
                    <a:pt x="4068876" y="398068"/>
                  </a:lnTo>
                  <a:lnTo>
                    <a:pt x="4081996" y="378675"/>
                  </a:lnTo>
                  <a:lnTo>
                    <a:pt x="4086822" y="355041"/>
                  </a:lnTo>
                  <a:close/>
                </a:path>
              </a:pathLst>
            </a:custGeom>
            <a:solidFill>
              <a:srgbClr val="3370A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88343" y="2794393"/>
              <a:ext cx="259556" cy="259549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9808883" y="3459708"/>
            <a:ext cx="3201035" cy="146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Docker</a:t>
            </a:r>
            <a:r>
              <a:rPr dirty="0" sz="20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Desktop</a:t>
            </a:r>
            <a:r>
              <a:rPr dirty="0" sz="20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20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"/>
                <a:cs typeface="Arial"/>
              </a:rPr>
              <a:t>Docker </a:t>
            </a: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Compose</a:t>
            </a:r>
            <a:r>
              <a:rPr dirty="0" sz="2000" spc="-1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2B3541"/>
                </a:solidFill>
                <a:latin typeface="Arial"/>
                <a:cs typeface="Arial"/>
              </a:rPr>
              <a:t>v2</a:t>
            </a:r>
            <a:endParaRPr sz="2000">
              <a:latin typeface="Arial"/>
              <a:cs typeface="Arial"/>
            </a:endParaRPr>
          </a:p>
          <a:p>
            <a:pPr marL="12700" marR="121285">
              <a:lnSpc>
                <a:spcPct val="132400"/>
              </a:lnSpc>
              <a:spcBef>
                <a:spcPts val="1035"/>
              </a:spcBef>
            </a:pP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7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run</a:t>
            </a:r>
            <a:r>
              <a:rPr dirty="0" sz="170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local</a:t>
            </a:r>
            <a:r>
              <a:rPr dirty="0" sz="17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dependent</a:t>
            </a:r>
            <a:r>
              <a:rPr dirty="0" sz="170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services (databases,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Redis,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etc.).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968692" y="5386501"/>
            <a:ext cx="6238875" cy="2252980"/>
            <a:chOff x="968692" y="5386501"/>
            <a:chExt cx="6238875" cy="2252980"/>
          </a:xfrm>
        </p:grpSpPr>
        <p:sp>
          <p:nvSpPr>
            <p:cNvPr id="22" name="object 22" descr=""/>
            <p:cNvSpPr/>
            <p:nvPr/>
          </p:nvSpPr>
          <p:spPr>
            <a:xfrm>
              <a:off x="968692" y="5711075"/>
              <a:ext cx="6238875" cy="1927860"/>
            </a:xfrm>
            <a:custGeom>
              <a:avLst/>
              <a:gdLst/>
              <a:ahLst/>
              <a:cxnLst/>
              <a:rect l="l" t="t" r="r" b="b"/>
              <a:pathLst>
                <a:path w="6238875" h="1927859">
                  <a:moveTo>
                    <a:pt x="6091974" y="0"/>
                  </a:moveTo>
                  <a:lnTo>
                    <a:pt x="146305" y="0"/>
                  </a:lnTo>
                  <a:lnTo>
                    <a:pt x="100269" y="7510"/>
                  </a:lnTo>
                  <a:lnTo>
                    <a:pt x="60133" y="28382"/>
                  </a:lnTo>
                  <a:lnTo>
                    <a:pt x="28384" y="60130"/>
                  </a:lnTo>
                  <a:lnTo>
                    <a:pt x="7510" y="100267"/>
                  </a:lnTo>
                  <a:lnTo>
                    <a:pt x="0" y="146303"/>
                  </a:lnTo>
                  <a:lnTo>
                    <a:pt x="0" y="1781555"/>
                  </a:lnTo>
                  <a:lnTo>
                    <a:pt x="7510" y="1827592"/>
                  </a:lnTo>
                  <a:lnTo>
                    <a:pt x="28384" y="1867729"/>
                  </a:lnTo>
                  <a:lnTo>
                    <a:pt x="60133" y="1899477"/>
                  </a:lnTo>
                  <a:lnTo>
                    <a:pt x="100269" y="1920349"/>
                  </a:lnTo>
                  <a:lnTo>
                    <a:pt x="146305" y="1927860"/>
                  </a:lnTo>
                  <a:lnTo>
                    <a:pt x="6091974" y="1927860"/>
                  </a:lnTo>
                  <a:lnTo>
                    <a:pt x="6138011" y="1920349"/>
                  </a:lnTo>
                  <a:lnTo>
                    <a:pt x="6178147" y="1899477"/>
                  </a:lnTo>
                  <a:lnTo>
                    <a:pt x="6209895" y="1867729"/>
                  </a:lnTo>
                  <a:lnTo>
                    <a:pt x="6230767" y="1827592"/>
                  </a:lnTo>
                  <a:lnTo>
                    <a:pt x="6238278" y="1781555"/>
                  </a:lnTo>
                  <a:lnTo>
                    <a:pt x="6238278" y="146303"/>
                  </a:lnTo>
                  <a:lnTo>
                    <a:pt x="6230767" y="100267"/>
                  </a:lnTo>
                  <a:lnTo>
                    <a:pt x="6209895" y="60130"/>
                  </a:lnTo>
                  <a:lnTo>
                    <a:pt x="6178147" y="28382"/>
                  </a:lnTo>
                  <a:lnTo>
                    <a:pt x="6138011" y="7510"/>
                  </a:lnTo>
                  <a:lnTo>
                    <a:pt x="6091974" y="0"/>
                  </a:lnTo>
                  <a:close/>
                </a:path>
              </a:pathLst>
            </a:custGeom>
            <a:solidFill>
              <a:srgbClr val="F9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68692" y="5386501"/>
              <a:ext cx="6238875" cy="649605"/>
            </a:xfrm>
            <a:custGeom>
              <a:avLst/>
              <a:gdLst/>
              <a:ahLst/>
              <a:cxnLst/>
              <a:rect l="l" t="t" r="r" b="b"/>
              <a:pathLst>
                <a:path w="6238875" h="649604">
                  <a:moveTo>
                    <a:pt x="6238278" y="355053"/>
                  </a:moveTo>
                  <a:lnTo>
                    <a:pt x="6233452" y="331431"/>
                  </a:lnTo>
                  <a:lnTo>
                    <a:pt x="6220333" y="312039"/>
                  </a:lnTo>
                  <a:lnTo>
                    <a:pt x="6200940" y="298919"/>
                  </a:lnTo>
                  <a:lnTo>
                    <a:pt x="6177318" y="294093"/>
                  </a:lnTo>
                  <a:lnTo>
                    <a:pt x="3441369" y="294093"/>
                  </a:lnTo>
                  <a:lnTo>
                    <a:pt x="3440099" y="276872"/>
                  </a:lnTo>
                  <a:lnTo>
                    <a:pt x="3429800" y="231267"/>
                  </a:lnTo>
                  <a:lnTo>
                    <a:pt x="3413277" y="188252"/>
                  </a:lnTo>
                  <a:lnTo>
                    <a:pt x="3391052" y="148374"/>
                  </a:lnTo>
                  <a:lnTo>
                    <a:pt x="3363633" y="112115"/>
                  </a:lnTo>
                  <a:lnTo>
                    <a:pt x="3331527" y="80022"/>
                  </a:lnTo>
                  <a:lnTo>
                    <a:pt x="3295281" y="52603"/>
                  </a:lnTo>
                  <a:lnTo>
                    <a:pt x="3255391" y="30365"/>
                  </a:lnTo>
                  <a:lnTo>
                    <a:pt x="3212376" y="13843"/>
                  </a:lnTo>
                  <a:lnTo>
                    <a:pt x="3166770" y="3556"/>
                  </a:lnTo>
                  <a:lnTo>
                    <a:pt x="3119082" y="0"/>
                  </a:lnTo>
                  <a:lnTo>
                    <a:pt x="3071393" y="3556"/>
                  </a:lnTo>
                  <a:lnTo>
                    <a:pt x="3025775" y="13843"/>
                  </a:lnTo>
                  <a:lnTo>
                    <a:pt x="2982772" y="30365"/>
                  </a:lnTo>
                  <a:lnTo>
                    <a:pt x="2942882" y="52603"/>
                  </a:lnTo>
                  <a:lnTo>
                    <a:pt x="2906623" y="80022"/>
                  </a:lnTo>
                  <a:lnTo>
                    <a:pt x="2874530" y="112115"/>
                  </a:lnTo>
                  <a:lnTo>
                    <a:pt x="2847111" y="148374"/>
                  </a:lnTo>
                  <a:lnTo>
                    <a:pt x="2824873" y="188252"/>
                  </a:lnTo>
                  <a:lnTo>
                    <a:pt x="2808351" y="231267"/>
                  </a:lnTo>
                  <a:lnTo>
                    <a:pt x="2798064" y="276872"/>
                  </a:lnTo>
                  <a:lnTo>
                    <a:pt x="2796781" y="294093"/>
                  </a:lnTo>
                  <a:lnTo>
                    <a:pt x="60947" y="294093"/>
                  </a:lnTo>
                  <a:lnTo>
                    <a:pt x="37325" y="298919"/>
                  </a:lnTo>
                  <a:lnTo>
                    <a:pt x="17932" y="312039"/>
                  </a:lnTo>
                  <a:lnTo>
                    <a:pt x="4813" y="331431"/>
                  </a:lnTo>
                  <a:lnTo>
                    <a:pt x="0" y="355053"/>
                  </a:lnTo>
                  <a:lnTo>
                    <a:pt x="4813" y="378688"/>
                  </a:lnTo>
                  <a:lnTo>
                    <a:pt x="17932" y="398081"/>
                  </a:lnTo>
                  <a:lnTo>
                    <a:pt x="37325" y="411200"/>
                  </a:lnTo>
                  <a:lnTo>
                    <a:pt x="60947" y="416013"/>
                  </a:lnTo>
                  <a:lnTo>
                    <a:pt x="2807932" y="416013"/>
                  </a:lnTo>
                  <a:lnTo>
                    <a:pt x="2808351" y="417868"/>
                  </a:lnTo>
                  <a:lnTo>
                    <a:pt x="2824873" y="460883"/>
                  </a:lnTo>
                  <a:lnTo>
                    <a:pt x="2847111" y="500773"/>
                  </a:lnTo>
                  <a:lnTo>
                    <a:pt x="2874530" y="537019"/>
                  </a:lnTo>
                  <a:lnTo>
                    <a:pt x="2906623" y="569125"/>
                  </a:lnTo>
                  <a:lnTo>
                    <a:pt x="2942882" y="596544"/>
                  </a:lnTo>
                  <a:lnTo>
                    <a:pt x="2982772" y="618782"/>
                  </a:lnTo>
                  <a:lnTo>
                    <a:pt x="3025775" y="635304"/>
                  </a:lnTo>
                  <a:lnTo>
                    <a:pt x="3071393" y="645591"/>
                  </a:lnTo>
                  <a:lnTo>
                    <a:pt x="3119082" y="649135"/>
                  </a:lnTo>
                  <a:lnTo>
                    <a:pt x="3166770" y="645591"/>
                  </a:lnTo>
                  <a:lnTo>
                    <a:pt x="3212376" y="635304"/>
                  </a:lnTo>
                  <a:lnTo>
                    <a:pt x="3255391" y="618782"/>
                  </a:lnTo>
                  <a:lnTo>
                    <a:pt x="3295281" y="596544"/>
                  </a:lnTo>
                  <a:lnTo>
                    <a:pt x="3331527" y="569125"/>
                  </a:lnTo>
                  <a:lnTo>
                    <a:pt x="3363633" y="537019"/>
                  </a:lnTo>
                  <a:lnTo>
                    <a:pt x="3391052" y="500773"/>
                  </a:lnTo>
                  <a:lnTo>
                    <a:pt x="3413277" y="460883"/>
                  </a:lnTo>
                  <a:lnTo>
                    <a:pt x="3429800" y="417868"/>
                  </a:lnTo>
                  <a:lnTo>
                    <a:pt x="3430206" y="416013"/>
                  </a:lnTo>
                  <a:lnTo>
                    <a:pt x="6177318" y="416013"/>
                  </a:lnTo>
                  <a:lnTo>
                    <a:pt x="6200940" y="411200"/>
                  </a:lnTo>
                  <a:lnTo>
                    <a:pt x="6220333" y="398081"/>
                  </a:lnTo>
                  <a:lnTo>
                    <a:pt x="6233452" y="378688"/>
                  </a:lnTo>
                  <a:lnTo>
                    <a:pt x="6238278" y="355053"/>
                  </a:lnTo>
                  <a:close/>
                </a:path>
              </a:pathLst>
            </a:custGeom>
            <a:solidFill>
              <a:srgbClr val="3370A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57993" y="5581294"/>
              <a:ext cx="259556" cy="259549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1202808" y="6246596"/>
            <a:ext cx="4090035" cy="804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Visual</a:t>
            </a:r>
            <a:r>
              <a:rPr dirty="0" sz="20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Studio</a:t>
            </a:r>
            <a:r>
              <a:rPr dirty="0" sz="20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2022</a:t>
            </a:r>
            <a:r>
              <a:rPr dirty="0" sz="20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/</a:t>
            </a:r>
            <a:r>
              <a:rPr dirty="0" sz="20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VS</a:t>
            </a:r>
            <a:r>
              <a:rPr dirty="0" sz="20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2B3541"/>
                </a:solidFill>
                <a:latin typeface="Arial"/>
                <a:cs typeface="Arial"/>
              </a:rPr>
              <a:t>Code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Recommended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development</a:t>
            </a:r>
            <a:r>
              <a:rPr dirty="0" sz="17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environment.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7423315" y="5386501"/>
            <a:ext cx="6238875" cy="2252980"/>
            <a:chOff x="7423315" y="5386501"/>
            <a:chExt cx="6238875" cy="2252980"/>
          </a:xfrm>
        </p:grpSpPr>
        <p:sp>
          <p:nvSpPr>
            <p:cNvPr id="27" name="object 27" descr=""/>
            <p:cNvSpPr/>
            <p:nvPr/>
          </p:nvSpPr>
          <p:spPr>
            <a:xfrm>
              <a:off x="7423315" y="5711075"/>
              <a:ext cx="6238875" cy="1927860"/>
            </a:xfrm>
            <a:custGeom>
              <a:avLst/>
              <a:gdLst/>
              <a:ahLst/>
              <a:cxnLst/>
              <a:rect l="l" t="t" r="r" b="b"/>
              <a:pathLst>
                <a:path w="6238875" h="1927859">
                  <a:moveTo>
                    <a:pt x="6091974" y="0"/>
                  </a:moveTo>
                  <a:lnTo>
                    <a:pt x="146305" y="0"/>
                  </a:lnTo>
                  <a:lnTo>
                    <a:pt x="100269" y="7510"/>
                  </a:lnTo>
                  <a:lnTo>
                    <a:pt x="60133" y="28382"/>
                  </a:lnTo>
                  <a:lnTo>
                    <a:pt x="28384" y="60130"/>
                  </a:lnTo>
                  <a:lnTo>
                    <a:pt x="7510" y="100267"/>
                  </a:lnTo>
                  <a:lnTo>
                    <a:pt x="0" y="146303"/>
                  </a:lnTo>
                  <a:lnTo>
                    <a:pt x="0" y="1781555"/>
                  </a:lnTo>
                  <a:lnTo>
                    <a:pt x="7510" y="1827592"/>
                  </a:lnTo>
                  <a:lnTo>
                    <a:pt x="28384" y="1867729"/>
                  </a:lnTo>
                  <a:lnTo>
                    <a:pt x="60133" y="1899477"/>
                  </a:lnTo>
                  <a:lnTo>
                    <a:pt x="100269" y="1920349"/>
                  </a:lnTo>
                  <a:lnTo>
                    <a:pt x="146305" y="1927860"/>
                  </a:lnTo>
                  <a:lnTo>
                    <a:pt x="6091974" y="1927860"/>
                  </a:lnTo>
                  <a:lnTo>
                    <a:pt x="6138011" y="1920349"/>
                  </a:lnTo>
                  <a:lnTo>
                    <a:pt x="6178147" y="1899477"/>
                  </a:lnTo>
                  <a:lnTo>
                    <a:pt x="6209895" y="1867729"/>
                  </a:lnTo>
                  <a:lnTo>
                    <a:pt x="6230767" y="1827592"/>
                  </a:lnTo>
                  <a:lnTo>
                    <a:pt x="6238278" y="1781555"/>
                  </a:lnTo>
                  <a:lnTo>
                    <a:pt x="6238278" y="146303"/>
                  </a:lnTo>
                  <a:lnTo>
                    <a:pt x="6230767" y="100267"/>
                  </a:lnTo>
                  <a:lnTo>
                    <a:pt x="6209895" y="60130"/>
                  </a:lnTo>
                  <a:lnTo>
                    <a:pt x="6178147" y="28382"/>
                  </a:lnTo>
                  <a:lnTo>
                    <a:pt x="6138011" y="7510"/>
                  </a:lnTo>
                  <a:lnTo>
                    <a:pt x="6091974" y="0"/>
                  </a:lnTo>
                  <a:close/>
                </a:path>
              </a:pathLst>
            </a:custGeom>
            <a:solidFill>
              <a:srgbClr val="F9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423315" y="5386501"/>
              <a:ext cx="6238875" cy="649605"/>
            </a:xfrm>
            <a:custGeom>
              <a:avLst/>
              <a:gdLst/>
              <a:ahLst/>
              <a:cxnLst/>
              <a:rect l="l" t="t" r="r" b="b"/>
              <a:pathLst>
                <a:path w="6238875" h="649604">
                  <a:moveTo>
                    <a:pt x="6238278" y="355053"/>
                  </a:moveTo>
                  <a:lnTo>
                    <a:pt x="6233452" y="331431"/>
                  </a:lnTo>
                  <a:lnTo>
                    <a:pt x="6220333" y="312039"/>
                  </a:lnTo>
                  <a:lnTo>
                    <a:pt x="6200940" y="298919"/>
                  </a:lnTo>
                  <a:lnTo>
                    <a:pt x="6177318" y="294093"/>
                  </a:lnTo>
                  <a:lnTo>
                    <a:pt x="3441357" y="294093"/>
                  </a:lnTo>
                  <a:lnTo>
                    <a:pt x="3440087" y="276872"/>
                  </a:lnTo>
                  <a:lnTo>
                    <a:pt x="3429787" y="231267"/>
                  </a:lnTo>
                  <a:lnTo>
                    <a:pt x="3413264" y="188252"/>
                  </a:lnTo>
                  <a:lnTo>
                    <a:pt x="3391039" y="148374"/>
                  </a:lnTo>
                  <a:lnTo>
                    <a:pt x="3363620" y="112115"/>
                  </a:lnTo>
                  <a:lnTo>
                    <a:pt x="3331514" y="80022"/>
                  </a:lnTo>
                  <a:lnTo>
                    <a:pt x="3295269" y="52603"/>
                  </a:lnTo>
                  <a:lnTo>
                    <a:pt x="3255378" y="30365"/>
                  </a:lnTo>
                  <a:lnTo>
                    <a:pt x="3212363" y="13843"/>
                  </a:lnTo>
                  <a:lnTo>
                    <a:pt x="3166757" y="3556"/>
                  </a:lnTo>
                  <a:lnTo>
                    <a:pt x="3119069" y="0"/>
                  </a:lnTo>
                  <a:lnTo>
                    <a:pt x="3071380" y="3556"/>
                  </a:lnTo>
                  <a:lnTo>
                    <a:pt x="3025762" y="13843"/>
                  </a:lnTo>
                  <a:lnTo>
                    <a:pt x="2982760" y="30365"/>
                  </a:lnTo>
                  <a:lnTo>
                    <a:pt x="2942869" y="52603"/>
                  </a:lnTo>
                  <a:lnTo>
                    <a:pt x="2906611" y="80022"/>
                  </a:lnTo>
                  <a:lnTo>
                    <a:pt x="2874518" y="112115"/>
                  </a:lnTo>
                  <a:lnTo>
                    <a:pt x="2847098" y="148374"/>
                  </a:lnTo>
                  <a:lnTo>
                    <a:pt x="2824861" y="188252"/>
                  </a:lnTo>
                  <a:lnTo>
                    <a:pt x="2808338" y="231267"/>
                  </a:lnTo>
                  <a:lnTo>
                    <a:pt x="2798051" y="276872"/>
                  </a:lnTo>
                  <a:lnTo>
                    <a:pt x="2796768" y="294093"/>
                  </a:lnTo>
                  <a:lnTo>
                    <a:pt x="60947" y="294093"/>
                  </a:lnTo>
                  <a:lnTo>
                    <a:pt x="37325" y="298919"/>
                  </a:lnTo>
                  <a:lnTo>
                    <a:pt x="17932" y="312039"/>
                  </a:lnTo>
                  <a:lnTo>
                    <a:pt x="4813" y="331431"/>
                  </a:lnTo>
                  <a:lnTo>
                    <a:pt x="0" y="355053"/>
                  </a:lnTo>
                  <a:lnTo>
                    <a:pt x="4813" y="378688"/>
                  </a:lnTo>
                  <a:lnTo>
                    <a:pt x="17932" y="398081"/>
                  </a:lnTo>
                  <a:lnTo>
                    <a:pt x="37325" y="411200"/>
                  </a:lnTo>
                  <a:lnTo>
                    <a:pt x="60947" y="416013"/>
                  </a:lnTo>
                  <a:lnTo>
                    <a:pt x="2807919" y="416013"/>
                  </a:lnTo>
                  <a:lnTo>
                    <a:pt x="2808338" y="417868"/>
                  </a:lnTo>
                  <a:lnTo>
                    <a:pt x="2824861" y="460883"/>
                  </a:lnTo>
                  <a:lnTo>
                    <a:pt x="2847098" y="500773"/>
                  </a:lnTo>
                  <a:lnTo>
                    <a:pt x="2874518" y="537019"/>
                  </a:lnTo>
                  <a:lnTo>
                    <a:pt x="2906611" y="569125"/>
                  </a:lnTo>
                  <a:lnTo>
                    <a:pt x="2942869" y="596544"/>
                  </a:lnTo>
                  <a:lnTo>
                    <a:pt x="2982760" y="618782"/>
                  </a:lnTo>
                  <a:lnTo>
                    <a:pt x="3025762" y="635304"/>
                  </a:lnTo>
                  <a:lnTo>
                    <a:pt x="3071380" y="645591"/>
                  </a:lnTo>
                  <a:lnTo>
                    <a:pt x="3119069" y="649135"/>
                  </a:lnTo>
                  <a:lnTo>
                    <a:pt x="3166757" y="645591"/>
                  </a:lnTo>
                  <a:lnTo>
                    <a:pt x="3212363" y="635304"/>
                  </a:lnTo>
                  <a:lnTo>
                    <a:pt x="3255378" y="618782"/>
                  </a:lnTo>
                  <a:lnTo>
                    <a:pt x="3295269" y="596544"/>
                  </a:lnTo>
                  <a:lnTo>
                    <a:pt x="3331514" y="569125"/>
                  </a:lnTo>
                  <a:lnTo>
                    <a:pt x="3363620" y="537019"/>
                  </a:lnTo>
                  <a:lnTo>
                    <a:pt x="3391039" y="500773"/>
                  </a:lnTo>
                  <a:lnTo>
                    <a:pt x="3413264" y="460883"/>
                  </a:lnTo>
                  <a:lnTo>
                    <a:pt x="3429787" y="417868"/>
                  </a:lnTo>
                  <a:lnTo>
                    <a:pt x="3430193" y="416013"/>
                  </a:lnTo>
                  <a:lnTo>
                    <a:pt x="6177318" y="416013"/>
                  </a:lnTo>
                  <a:lnTo>
                    <a:pt x="6200940" y="411200"/>
                  </a:lnTo>
                  <a:lnTo>
                    <a:pt x="6220333" y="398081"/>
                  </a:lnTo>
                  <a:lnTo>
                    <a:pt x="6233452" y="378688"/>
                  </a:lnTo>
                  <a:lnTo>
                    <a:pt x="6238278" y="355053"/>
                  </a:lnTo>
                  <a:close/>
                </a:path>
              </a:pathLst>
            </a:custGeom>
            <a:solidFill>
              <a:srgbClr val="3370A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12615" y="5581294"/>
              <a:ext cx="259556" cy="259549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7657427" y="6246596"/>
            <a:ext cx="5589270" cy="1147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Terraform</a:t>
            </a:r>
            <a:r>
              <a:rPr dirty="0" sz="20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1.9+</a:t>
            </a:r>
            <a:r>
              <a:rPr dirty="0" sz="20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200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Helm</a:t>
            </a:r>
            <a:r>
              <a:rPr dirty="0" sz="20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"/>
                <a:cs typeface="Arial"/>
              </a:rPr>
              <a:t>3.14+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32400"/>
              </a:lnSpc>
              <a:spcBef>
                <a:spcPts val="1030"/>
              </a:spcBef>
            </a:pP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For</a:t>
            </a:r>
            <a:r>
              <a:rPr dirty="0" sz="17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infrastructure</a:t>
            </a:r>
            <a:r>
              <a:rPr dirty="0" sz="17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automation</a:t>
            </a:r>
            <a:r>
              <a:rPr dirty="0" sz="17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7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deployment</a:t>
            </a:r>
            <a:r>
              <a:rPr dirty="0" sz="17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(optional</a:t>
            </a:r>
            <a:r>
              <a:rPr dirty="0" sz="17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2B3541"/>
                </a:solidFill>
                <a:latin typeface="Arial"/>
                <a:cs typeface="Arial"/>
              </a:rPr>
              <a:t>for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local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work).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68692" y="7010996"/>
            <a:ext cx="13593444" cy="1150620"/>
            <a:chOff x="968692" y="7010996"/>
            <a:chExt cx="13593444" cy="1150620"/>
          </a:xfrm>
        </p:grpSpPr>
        <p:sp>
          <p:nvSpPr>
            <p:cNvPr id="3" name="object 3" descr=""/>
            <p:cNvSpPr/>
            <p:nvPr/>
          </p:nvSpPr>
          <p:spPr>
            <a:xfrm>
              <a:off x="968692" y="7010996"/>
              <a:ext cx="12693015" cy="740410"/>
            </a:xfrm>
            <a:custGeom>
              <a:avLst/>
              <a:gdLst/>
              <a:ahLst/>
              <a:cxnLst/>
              <a:rect l="l" t="t" r="r" b="b"/>
              <a:pathLst>
                <a:path w="12693015" h="740409">
                  <a:moveTo>
                    <a:pt x="12619723" y="0"/>
                  </a:moveTo>
                  <a:lnTo>
                    <a:pt x="73175" y="0"/>
                  </a:lnTo>
                  <a:lnTo>
                    <a:pt x="44806" y="5788"/>
                  </a:lnTo>
                  <a:lnTo>
                    <a:pt x="21534" y="21534"/>
                  </a:lnTo>
                  <a:lnTo>
                    <a:pt x="5788" y="44807"/>
                  </a:lnTo>
                  <a:lnTo>
                    <a:pt x="0" y="73177"/>
                  </a:lnTo>
                  <a:lnTo>
                    <a:pt x="0" y="666800"/>
                  </a:lnTo>
                  <a:lnTo>
                    <a:pt x="5788" y="695170"/>
                  </a:lnTo>
                  <a:lnTo>
                    <a:pt x="21534" y="718443"/>
                  </a:lnTo>
                  <a:lnTo>
                    <a:pt x="44806" y="734189"/>
                  </a:lnTo>
                  <a:lnTo>
                    <a:pt x="73175" y="739978"/>
                  </a:lnTo>
                  <a:lnTo>
                    <a:pt x="12619723" y="739978"/>
                  </a:lnTo>
                  <a:lnTo>
                    <a:pt x="12648093" y="734189"/>
                  </a:lnTo>
                  <a:lnTo>
                    <a:pt x="12671366" y="718443"/>
                  </a:lnTo>
                  <a:lnTo>
                    <a:pt x="12687112" y="695170"/>
                  </a:lnTo>
                  <a:lnTo>
                    <a:pt x="12692900" y="666800"/>
                  </a:lnTo>
                  <a:lnTo>
                    <a:pt x="12692900" y="73177"/>
                  </a:lnTo>
                  <a:lnTo>
                    <a:pt x="12687112" y="44807"/>
                  </a:lnTo>
                  <a:lnTo>
                    <a:pt x="12671366" y="21534"/>
                  </a:lnTo>
                  <a:lnTo>
                    <a:pt x="12648093" y="5788"/>
                  </a:lnTo>
                  <a:lnTo>
                    <a:pt x="12619723" y="0"/>
                  </a:lnTo>
                  <a:close/>
                </a:path>
              </a:pathLst>
            </a:custGeom>
            <a:solidFill>
              <a:srgbClr val="C5DB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880" y="7274242"/>
              <a:ext cx="217764" cy="17419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10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Getting</a:t>
            </a:r>
            <a:r>
              <a:rPr dirty="0" sz="3200" spc="-20"/>
              <a:t> </a:t>
            </a:r>
            <a:r>
              <a:rPr dirty="0" sz="3200"/>
              <a:t>Started</a:t>
            </a:r>
            <a:r>
              <a:rPr dirty="0" sz="3200" spc="-20"/>
              <a:t> </a:t>
            </a:r>
            <a:r>
              <a:rPr dirty="0" sz="3200"/>
              <a:t>-</a:t>
            </a:r>
            <a:r>
              <a:rPr dirty="0" sz="3200" spc="-20"/>
              <a:t> </a:t>
            </a:r>
            <a:r>
              <a:rPr dirty="0" sz="3200"/>
              <a:t>Local</a:t>
            </a:r>
            <a:r>
              <a:rPr dirty="0" sz="3200" spc="-20"/>
              <a:t> </a:t>
            </a:r>
            <a:r>
              <a:rPr dirty="0" sz="3200"/>
              <a:t>Setup</a:t>
            </a:r>
            <a:r>
              <a:rPr dirty="0" sz="3200" spc="-15"/>
              <a:t> </a:t>
            </a:r>
            <a:r>
              <a:rPr dirty="0" sz="3200"/>
              <a:t>and</a:t>
            </a:r>
            <a:r>
              <a:rPr dirty="0" sz="3200" spc="-20"/>
              <a:t> </a:t>
            </a:r>
            <a:r>
              <a:rPr dirty="0" sz="3200" spc="-10"/>
              <a:t>Development</a:t>
            </a:r>
            <a:endParaRPr sz="3200"/>
          </a:p>
        </p:txBody>
      </p:sp>
      <p:sp>
        <p:nvSpPr>
          <p:cNvPr id="6" name="object 6" descr=""/>
          <p:cNvSpPr/>
          <p:nvPr/>
        </p:nvSpPr>
        <p:spPr>
          <a:xfrm>
            <a:off x="4113580" y="1339811"/>
            <a:ext cx="333375" cy="273050"/>
          </a:xfrm>
          <a:custGeom>
            <a:avLst/>
            <a:gdLst/>
            <a:ahLst/>
            <a:cxnLst/>
            <a:rect l="l" t="t" r="r" b="b"/>
            <a:pathLst>
              <a:path w="333375" h="273050">
                <a:moveTo>
                  <a:pt x="332930" y="0"/>
                </a:moveTo>
                <a:lnTo>
                  <a:pt x="0" y="0"/>
                </a:lnTo>
                <a:lnTo>
                  <a:pt x="0" y="273050"/>
                </a:lnTo>
                <a:lnTo>
                  <a:pt x="332930" y="273050"/>
                </a:lnTo>
                <a:lnTo>
                  <a:pt x="332930" y="0"/>
                </a:lnTo>
                <a:close/>
              </a:path>
            </a:pathLst>
          </a:custGeom>
          <a:solidFill>
            <a:srgbClr val="ECE8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930183" y="2922866"/>
            <a:ext cx="392430" cy="273050"/>
          </a:xfrm>
          <a:custGeom>
            <a:avLst/>
            <a:gdLst/>
            <a:ahLst/>
            <a:cxnLst/>
            <a:rect l="l" t="t" r="r" b="b"/>
            <a:pathLst>
              <a:path w="392429" h="273050">
                <a:moveTo>
                  <a:pt x="392125" y="0"/>
                </a:moveTo>
                <a:lnTo>
                  <a:pt x="0" y="0"/>
                </a:lnTo>
                <a:lnTo>
                  <a:pt x="0" y="273050"/>
                </a:lnTo>
                <a:lnTo>
                  <a:pt x="392125" y="273050"/>
                </a:lnTo>
                <a:lnTo>
                  <a:pt x="392125" y="0"/>
                </a:lnTo>
                <a:close/>
              </a:path>
            </a:pathLst>
          </a:custGeom>
          <a:solidFill>
            <a:srgbClr val="ECE8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669510" y="2922866"/>
            <a:ext cx="392430" cy="273050"/>
          </a:xfrm>
          <a:custGeom>
            <a:avLst/>
            <a:gdLst/>
            <a:ahLst/>
            <a:cxnLst/>
            <a:rect l="l" t="t" r="r" b="b"/>
            <a:pathLst>
              <a:path w="392429" h="273050">
                <a:moveTo>
                  <a:pt x="392125" y="0"/>
                </a:moveTo>
                <a:lnTo>
                  <a:pt x="0" y="0"/>
                </a:lnTo>
                <a:lnTo>
                  <a:pt x="0" y="273050"/>
                </a:lnTo>
                <a:lnTo>
                  <a:pt x="392125" y="273050"/>
                </a:lnTo>
                <a:lnTo>
                  <a:pt x="392125" y="0"/>
                </a:lnTo>
                <a:close/>
              </a:path>
            </a:pathLst>
          </a:custGeom>
          <a:solidFill>
            <a:srgbClr val="ECE8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968692" y="2092998"/>
            <a:ext cx="22860" cy="1304925"/>
          </a:xfrm>
          <a:custGeom>
            <a:avLst/>
            <a:gdLst/>
            <a:ahLst/>
            <a:cxnLst/>
            <a:rect l="l" t="t" r="r" b="b"/>
            <a:pathLst>
              <a:path w="22859" h="1304925">
                <a:moveTo>
                  <a:pt x="22860" y="0"/>
                </a:moveTo>
                <a:lnTo>
                  <a:pt x="0" y="0"/>
                </a:lnTo>
                <a:lnTo>
                  <a:pt x="0" y="1304442"/>
                </a:lnTo>
                <a:lnTo>
                  <a:pt x="22860" y="1304442"/>
                </a:lnTo>
                <a:lnTo>
                  <a:pt x="22860" y="0"/>
                </a:lnTo>
                <a:close/>
              </a:path>
            </a:pathLst>
          </a:custGeom>
          <a:solidFill>
            <a:srgbClr val="3370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959993" y="4068012"/>
            <a:ext cx="12710795" cy="1932939"/>
          </a:xfrm>
          <a:custGeom>
            <a:avLst/>
            <a:gdLst/>
            <a:ahLst/>
            <a:cxnLst/>
            <a:rect l="l" t="t" r="r" b="b"/>
            <a:pathLst>
              <a:path w="12710794" h="1932939">
                <a:moveTo>
                  <a:pt x="12710287" y="26136"/>
                </a:moveTo>
                <a:lnTo>
                  <a:pt x="12708217" y="16014"/>
                </a:lnTo>
                <a:lnTo>
                  <a:pt x="12702591" y="7696"/>
                </a:lnTo>
                <a:lnTo>
                  <a:pt x="12694285" y="2070"/>
                </a:lnTo>
                <a:lnTo>
                  <a:pt x="12684151" y="0"/>
                </a:lnTo>
                <a:lnTo>
                  <a:pt x="12628423" y="0"/>
                </a:lnTo>
                <a:lnTo>
                  <a:pt x="81876" y="0"/>
                </a:lnTo>
                <a:lnTo>
                  <a:pt x="26136" y="0"/>
                </a:lnTo>
                <a:lnTo>
                  <a:pt x="16002" y="2070"/>
                </a:lnTo>
                <a:lnTo>
                  <a:pt x="7696" y="7696"/>
                </a:lnTo>
                <a:lnTo>
                  <a:pt x="2070" y="16014"/>
                </a:lnTo>
                <a:lnTo>
                  <a:pt x="0" y="26136"/>
                </a:lnTo>
                <a:lnTo>
                  <a:pt x="0" y="1906727"/>
                </a:lnTo>
                <a:lnTo>
                  <a:pt x="2070" y="1916861"/>
                </a:lnTo>
                <a:lnTo>
                  <a:pt x="7696" y="1925180"/>
                </a:lnTo>
                <a:lnTo>
                  <a:pt x="16002" y="1930806"/>
                </a:lnTo>
                <a:lnTo>
                  <a:pt x="26136" y="1932863"/>
                </a:lnTo>
                <a:lnTo>
                  <a:pt x="81876" y="1932863"/>
                </a:lnTo>
                <a:lnTo>
                  <a:pt x="12628423" y="1932863"/>
                </a:lnTo>
                <a:lnTo>
                  <a:pt x="12684151" y="1932863"/>
                </a:lnTo>
                <a:lnTo>
                  <a:pt x="12694285" y="1930806"/>
                </a:lnTo>
                <a:lnTo>
                  <a:pt x="12702591" y="1925180"/>
                </a:lnTo>
                <a:lnTo>
                  <a:pt x="12708217" y="1916861"/>
                </a:lnTo>
                <a:lnTo>
                  <a:pt x="12710287" y="1906727"/>
                </a:lnTo>
                <a:lnTo>
                  <a:pt x="12710287" y="26136"/>
                </a:lnTo>
                <a:close/>
              </a:path>
            </a:pathLst>
          </a:custGeom>
          <a:solidFill>
            <a:srgbClr val="ECE8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800"/>
              </a:lnSpc>
              <a:spcBef>
                <a:spcPts val="100"/>
              </a:spcBef>
            </a:pPr>
            <a:r>
              <a:rPr dirty="0"/>
              <a:t>Local</a:t>
            </a:r>
            <a:r>
              <a:rPr dirty="0" spc="-15"/>
              <a:t> </a:t>
            </a:r>
            <a:r>
              <a:rPr dirty="0"/>
              <a:t>setup</a:t>
            </a:r>
            <a:r>
              <a:rPr dirty="0" spc="-10"/>
              <a:t> </a:t>
            </a:r>
            <a:r>
              <a:rPr dirty="0"/>
              <a:t>requires</a:t>
            </a:r>
            <a:r>
              <a:rPr dirty="0" spc="-15"/>
              <a:t> </a:t>
            </a:r>
            <a:r>
              <a:rPr dirty="0"/>
              <a:t>an</a:t>
            </a:r>
            <a:r>
              <a:rPr dirty="0" spc="-10"/>
              <a:t> </a:t>
            </a:r>
            <a:r>
              <a:rPr dirty="0"/>
              <a:t>environment</a:t>
            </a:r>
            <a:r>
              <a:rPr dirty="0" spc="-15"/>
              <a:t> </a:t>
            </a:r>
            <a:r>
              <a:rPr dirty="0"/>
              <a:t>file</a:t>
            </a:r>
            <a:r>
              <a:rPr dirty="0" spc="-10"/>
              <a:t> </a:t>
            </a:r>
            <a:r>
              <a:rPr dirty="0"/>
              <a:t>(.env)</a:t>
            </a:r>
            <a:r>
              <a:rPr dirty="0" spc="-15"/>
              <a:t> </a:t>
            </a:r>
            <a:r>
              <a:rPr dirty="0"/>
              <a:t>containing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necessary</a:t>
            </a:r>
            <a:r>
              <a:rPr dirty="0" spc="-15"/>
              <a:t> </a:t>
            </a:r>
            <a:r>
              <a:rPr dirty="0"/>
              <a:t>secret</a:t>
            </a:r>
            <a:r>
              <a:rPr dirty="0" spc="-10"/>
              <a:t> </a:t>
            </a:r>
            <a:r>
              <a:rPr dirty="0"/>
              <a:t>keys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/>
              <a:t>run</a:t>
            </a:r>
            <a:r>
              <a:rPr dirty="0" spc="-15"/>
              <a:t> </a:t>
            </a:r>
            <a:r>
              <a:rPr dirty="0"/>
              <a:t>services</a:t>
            </a:r>
            <a:r>
              <a:rPr dirty="0" spc="-10"/>
              <a:t> </a:t>
            </a:r>
            <a:r>
              <a:rPr dirty="0"/>
              <a:t>like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database,</a:t>
            </a:r>
            <a:r>
              <a:rPr dirty="0" spc="-10"/>
              <a:t> </a:t>
            </a:r>
            <a:r>
              <a:rPr dirty="0"/>
              <a:t>Stripe,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/>
              <a:t>OpenAI,</a:t>
            </a:r>
            <a:r>
              <a:rPr dirty="0" spc="-15"/>
              <a:t> </a:t>
            </a:r>
            <a:r>
              <a:rPr dirty="0"/>
              <a:t>followed</a:t>
            </a:r>
            <a:r>
              <a:rPr dirty="0" spc="-10"/>
              <a:t> </a:t>
            </a:r>
            <a:r>
              <a:rPr dirty="0"/>
              <a:t>by</a:t>
            </a:r>
            <a:r>
              <a:rPr dirty="0" spc="-15"/>
              <a:t> </a:t>
            </a:r>
            <a:r>
              <a:rPr dirty="0"/>
              <a:t>running</a:t>
            </a:r>
            <a:r>
              <a:rPr dirty="0" spc="-10"/>
              <a:t> Docker Compose.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690"/>
              </a:spcBef>
            </a:pPr>
          </a:p>
          <a:p>
            <a:pPr marL="273685">
              <a:lnSpc>
                <a:spcPct val="100000"/>
              </a:lnSpc>
            </a:pPr>
            <a:r>
              <a:rPr dirty="0" sz="1900">
                <a:solidFill>
                  <a:srgbClr val="051D39"/>
                </a:solidFill>
              </a:rPr>
              <a:t>Step</a:t>
            </a:r>
            <a:r>
              <a:rPr dirty="0" sz="1900" spc="-45">
                <a:solidFill>
                  <a:srgbClr val="051D39"/>
                </a:solidFill>
              </a:rPr>
              <a:t> </a:t>
            </a:r>
            <a:r>
              <a:rPr dirty="0" sz="1900">
                <a:solidFill>
                  <a:srgbClr val="051D39"/>
                </a:solidFill>
              </a:rPr>
              <a:t>4.3:</a:t>
            </a:r>
            <a:r>
              <a:rPr dirty="0" sz="1900" spc="-45">
                <a:solidFill>
                  <a:srgbClr val="051D39"/>
                </a:solidFill>
              </a:rPr>
              <a:t> </a:t>
            </a:r>
            <a:r>
              <a:rPr dirty="0" sz="1900">
                <a:solidFill>
                  <a:srgbClr val="051D39"/>
                </a:solidFill>
              </a:rPr>
              <a:t>Build</a:t>
            </a:r>
            <a:r>
              <a:rPr dirty="0" sz="1900" spc="-45">
                <a:solidFill>
                  <a:srgbClr val="051D39"/>
                </a:solidFill>
              </a:rPr>
              <a:t> </a:t>
            </a:r>
            <a:r>
              <a:rPr dirty="0" sz="1900">
                <a:solidFill>
                  <a:srgbClr val="051D39"/>
                </a:solidFill>
              </a:rPr>
              <a:t>and</a:t>
            </a:r>
            <a:r>
              <a:rPr dirty="0" sz="1900" spc="-40">
                <a:solidFill>
                  <a:srgbClr val="051D39"/>
                </a:solidFill>
              </a:rPr>
              <a:t> </a:t>
            </a:r>
            <a:r>
              <a:rPr dirty="0" sz="1900">
                <a:solidFill>
                  <a:srgbClr val="051D39"/>
                </a:solidFill>
              </a:rPr>
              <a:t>Run</a:t>
            </a:r>
            <a:r>
              <a:rPr dirty="0" sz="1900" spc="-45">
                <a:solidFill>
                  <a:srgbClr val="051D39"/>
                </a:solidFill>
              </a:rPr>
              <a:t> </a:t>
            </a:r>
            <a:r>
              <a:rPr dirty="0" sz="1900">
                <a:solidFill>
                  <a:srgbClr val="051D39"/>
                </a:solidFill>
              </a:rPr>
              <a:t>with</a:t>
            </a:r>
            <a:r>
              <a:rPr dirty="0" sz="1900" spc="-45">
                <a:solidFill>
                  <a:srgbClr val="051D39"/>
                </a:solidFill>
              </a:rPr>
              <a:t> </a:t>
            </a:r>
            <a:r>
              <a:rPr dirty="0" sz="1900">
                <a:solidFill>
                  <a:srgbClr val="051D39"/>
                </a:solidFill>
              </a:rPr>
              <a:t>Docker</a:t>
            </a:r>
            <a:r>
              <a:rPr dirty="0" sz="1900" spc="-40">
                <a:solidFill>
                  <a:srgbClr val="051D39"/>
                </a:solidFill>
              </a:rPr>
              <a:t> </a:t>
            </a:r>
            <a:r>
              <a:rPr dirty="0" sz="1900" spc="-10">
                <a:solidFill>
                  <a:srgbClr val="051D39"/>
                </a:solidFill>
              </a:rPr>
              <a:t>Compose</a:t>
            </a:r>
            <a:endParaRPr sz="1900"/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900"/>
          </a:p>
          <a:p>
            <a:pPr marL="273685">
              <a:lnSpc>
                <a:spcPct val="100000"/>
              </a:lnSpc>
            </a:pPr>
            <a:r>
              <a:rPr dirty="0"/>
              <a:t>The</a:t>
            </a:r>
            <a:r>
              <a:rPr dirty="0" spc="-5"/>
              <a:t> </a:t>
            </a:r>
            <a:r>
              <a:rPr dirty="0"/>
              <a:t>backend</a:t>
            </a:r>
            <a:r>
              <a:rPr dirty="0" spc="-5"/>
              <a:t> </a:t>
            </a:r>
            <a:r>
              <a:rPr dirty="0"/>
              <a:t>(API)</a:t>
            </a:r>
            <a:r>
              <a:rPr dirty="0" spc="-5"/>
              <a:t> </a:t>
            </a:r>
            <a:r>
              <a:rPr dirty="0"/>
              <a:t>runs</a:t>
            </a:r>
            <a:r>
              <a:rPr dirty="0" spc="-5"/>
              <a:t> </a:t>
            </a:r>
            <a:r>
              <a:rPr dirty="0"/>
              <a:t>on</a:t>
            </a:r>
            <a:r>
              <a:rPr dirty="0" spc="-5"/>
              <a:t> </a:t>
            </a:r>
            <a:r>
              <a:rPr dirty="0"/>
              <a:t>port 5000, and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/>
              <a:t>web</a:t>
            </a:r>
            <a:r>
              <a:rPr dirty="0" spc="-5"/>
              <a:t> </a:t>
            </a:r>
            <a:r>
              <a:rPr dirty="0"/>
              <a:t>interface</a:t>
            </a:r>
            <a:r>
              <a:rPr dirty="0" spc="-5"/>
              <a:t> </a:t>
            </a:r>
            <a:r>
              <a:rPr dirty="0"/>
              <a:t>(SPA)</a:t>
            </a:r>
            <a:r>
              <a:rPr dirty="0" spc="-5"/>
              <a:t> </a:t>
            </a:r>
            <a:r>
              <a:rPr dirty="0"/>
              <a:t>on port</a:t>
            </a:r>
            <a:r>
              <a:rPr dirty="0" spc="5"/>
              <a:t> </a:t>
            </a:r>
            <a:r>
              <a:rPr dirty="0"/>
              <a:t>4200.</a:t>
            </a:r>
            <a:r>
              <a:rPr dirty="0" spc="-5"/>
              <a:t> </a:t>
            </a:r>
            <a:r>
              <a:rPr dirty="0"/>
              <a:t>SQL</a:t>
            </a:r>
            <a:r>
              <a:rPr dirty="0" spc="-5"/>
              <a:t> </a:t>
            </a:r>
            <a:r>
              <a:rPr dirty="0"/>
              <a:t>Server</a:t>
            </a:r>
            <a:r>
              <a:rPr dirty="0" spc="-5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Redis databases</a:t>
            </a:r>
            <a:r>
              <a:rPr dirty="0" spc="-5"/>
              <a:t> </a:t>
            </a:r>
            <a:r>
              <a:rPr dirty="0"/>
              <a:t>are</a:t>
            </a:r>
            <a:r>
              <a:rPr dirty="0" spc="-5"/>
              <a:t> </a:t>
            </a:r>
            <a:r>
              <a:rPr dirty="0"/>
              <a:t>automatically</a:t>
            </a:r>
            <a:r>
              <a:rPr dirty="0" spc="-5"/>
              <a:t> </a:t>
            </a:r>
            <a:r>
              <a:rPr dirty="0" spc="-10"/>
              <a:t>provisioned.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605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Basic</a:t>
            </a:r>
            <a:r>
              <a:rPr dirty="0" spc="-15"/>
              <a:t> </a:t>
            </a:r>
            <a:r>
              <a:rPr dirty="0"/>
              <a:t>running</a:t>
            </a:r>
            <a:r>
              <a:rPr dirty="0" spc="-15"/>
              <a:t> </a:t>
            </a:r>
            <a:r>
              <a:rPr dirty="0" spc="-10"/>
              <a:t>commands:</a:t>
            </a:r>
          </a:p>
          <a:p>
            <a:pPr>
              <a:lnSpc>
                <a:spcPct val="100000"/>
              </a:lnSpc>
              <a:spcBef>
                <a:spcPts val="1540"/>
              </a:spcBef>
            </a:pPr>
          </a:p>
          <a:p>
            <a:pPr marL="177800">
              <a:lnSpc>
                <a:spcPct val="100000"/>
              </a:lnSpc>
            </a:pPr>
            <a:r>
              <a:rPr dirty="0"/>
              <a:t>git</a:t>
            </a:r>
            <a:r>
              <a:rPr dirty="0" spc="70"/>
              <a:t> </a:t>
            </a:r>
            <a:r>
              <a:rPr dirty="0"/>
              <a:t>clone</a:t>
            </a:r>
            <a:r>
              <a:rPr dirty="0" spc="70"/>
              <a:t> </a:t>
            </a:r>
            <a:r>
              <a:rPr dirty="0" spc="50"/>
              <a:t>https://github.com/yourorg/car-community-</a:t>
            </a:r>
            <a:r>
              <a:rPr dirty="0"/>
              <a:t>saas.gitcd</a:t>
            </a:r>
            <a:r>
              <a:rPr dirty="0" spc="70"/>
              <a:t> </a:t>
            </a:r>
            <a:r>
              <a:rPr dirty="0"/>
              <a:t>car-</a:t>
            </a:r>
            <a:r>
              <a:rPr dirty="0" spc="50"/>
              <a:t>community-</a:t>
            </a:r>
            <a:r>
              <a:rPr dirty="0"/>
              <a:t>saas#</a:t>
            </a:r>
            <a:r>
              <a:rPr dirty="0" spc="75"/>
              <a:t> </a:t>
            </a:r>
            <a:r>
              <a:rPr dirty="0"/>
              <a:t>Step</a:t>
            </a:r>
            <a:r>
              <a:rPr dirty="0" spc="70"/>
              <a:t> </a:t>
            </a:r>
            <a:r>
              <a:rPr dirty="0"/>
              <a:t>4.3:</a:t>
            </a:r>
            <a:r>
              <a:rPr dirty="0" spc="70"/>
              <a:t> </a:t>
            </a:r>
            <a:r>
              <a:rPr dirty="0"/>
              <a:t>Build</a:t>
            </a:r>
            <a:r>
              <a:rPr dirty="0" spc="70"/>
              <a:t> </a:t>
            </a:r>
            <a:r>
              <a:rPr dirty="0"/>
              <a:t>and</a:t>
            </a:r>
            <a:r>
              <a:rPr dirty="0" spc="75"/>
              <a:t> run</a:t>
            </a:r>
            <a:r>
              <a:rPr dirty="0" spc="70"/>
              <a:t> </a:t>
            </a:r>
            <a:r>
              <a:rPr dirty="0"/>
              <a:t>servicesdocker</a:t>
            </a:r>
            <a:r>
              <a:rPr dirty="0" spc="70"/>
              <a:t> </a:t>
            </a:r>
            <a:r>
              <a:rPr dirty="0"/>
              <a:t>compose</a:t>
            </a:r>
            <a:r>
              <a:rPr dirty="0" spc="70"/>
              <a:t> </a:t>
            </a:r>
            <a:r>
              <a:rPr dirty="0" spc="75"/>
              <a:t>up </a:t>
            </a:r>
            <a:r>
              <a:rPr dirty="0" spc="-25"/>
              <a:t>-</a:t>
            </a:r>
            <a:r>
              <a:rPr dirty="0" spc="75"/>
              <a:t>d</a:t>
            </a:r>
            <a:r>
              <a:rPr dirty="0" spc="70"/>
              <a:t> </a:t>
            </a:r>
            <a:r>
              <a:rPr dirty="0" spc="-25"/>
              <a:t>--</a:t>
            </a:r>
            <a:r>
              <a:rPr dirty="0" spc="50"/>
              <a:t>build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955992" y="6247828"/>
            <a:ext cx="4388485" cy="570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2B3541"/>
                </a:solidFill>
                <a:latin typeface="Arial"/>
                <a:cs typeface="Arial"/>
              </a:rPr>
              <a:t>Check</a:t>
            </a:r>
            <a:r>
              <a:rPr dirty="0" sz="13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3541"/>
                </a:solidFill>
                <a:latin typeface="Arial"/>
                <a:cs typeface="Arial"/>
              </a:rPr>
              <a:t>Backend</a:t>
            </a:r>
            <a:r>
              <a:rPr dirty="0" sz="13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3541"/>
                </a:solidFill>
                <a:latin typeface="Arial"/>
                <a:cs typeface="Arial"/>
              </a:rPr>
              <a:t>(Swagger):</a:t>
            </a:r>
            <a:r>
              <a:rPr dirty="0" sz="1350" spc="-1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u="sng" sz="135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  <a:hlinkClick r:id="rId3"/>
              </a:rPr>
              <a:t>http://localhost:5000/swagger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1350">
                <a:solidFill>
                  <a:srgbClr val="2B3541"/>
                </a:solidFill>
                <a:latin typeface="Arial"/>
                <a:cs typeface="Arial"/>
              </a:rPr>
              <a:t>Check</a:t>
            </a:r>
            <a:r>
              <a:rPr dirty="0" sz="13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3541"/>
                </a:solidFill>
                <a:latin typeface="Arial"/>
                <a:cs typeface="Arial"/>
              </a:rPr>
              <a:t>User</a:t>
            </a:r>
            <a:r>
              <a:rPr dirty="0" sz="1350" spc="-1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3541"/>
                </a:solidFill>
                <a:latin typeface="Arial"/>
                <a:cs typeface="Arial"/>
              </a:rPr>
              <a:t>Interface</a:t>
            </a:r>
            <a:r>
              <a:rPr dirty="0" sz="1350" spc="-1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3541"/>
                </a:solidFill>
                <a:latin typeface="Arial"/>
                <a:cs typeface="Arial"/>
              </a:rPr>
              <a:t>(SPA):</a:t>
            </a:r>
            <a:r>
              <a:rPr dirty="0" sz="1350" spc="-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u="sng" sz="135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  <a:hlinkClick r:id="rId4"/>
              </a:rPr>
              <a:t>http://localhost:4200</a:t>
            </a:r>
            <a:endParaRPr sz="13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522133" y="7273276"/>
            <a:ext cx="236855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latin typeface="Arial"/>
                <a:cs typeface="Arial"/>
              </a:rPr>
              <a:t>Important</a:t>
            </a:r>
            <a:r>
              <a:rPr dirty="0" sz="1350" spc="-25" b="1">
                <a:latin typeface="Arial"/>
                <a:cs typeface="Arial"/>
              </a:rPr>
              <a:t> </a:t>
            </a:r>
            <a:r>
              <a:rPr dirty="0" sz="1350" b="1">
                <a:latin typeface="Arial"/>
                <a:cs typeface="Arial"/>
              </a:rPr>
              <a:t>Note:</a:t>
            </a:r>
            <a:r>
              <a:rPr dirty="0" sz="1350" spc="-25" b="1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You</a:t>
            </a:r>
            <a:r>
              <a:rPr dirty="0" sz="1350" spc="-20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must</a:t>
            </a:r>
            <a:r>
              <a:rPr dirty="0" sz="1350" spc="-25">
                <a:latin typeface="Arial"/>
                <a:cs typeface="Arial"/>
              </a:rPr>
              <a:t> run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925976" y="7228637"/>
            <a:ext cx="4184650" cy="2730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571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r>
              <a:rPr dirty="0" sz="1350">
                <a:latin typeface="Arial"/>
                <a:cs typeface="Arial"/>
              </a:rPr>
              <a:t>docker</a:t>
            </a:r>
            <a:r>
              <a:rPr dirty="0" sz="1350" spc="90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compose</a:t>
            </a:r>
            <a:r>
              <a:rPr dirty="0" sz="1350" spc="9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exec</a:t>
            </a:r>
            <a:r>
              <a:rPr dirty="0" sz="1350" spc="9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api</a:t>
            </a:r>
            <a:r>
              <a:rPr dirty="0" sz="1350" spc="95">
                <a:latin typeface="Arial"/>
                <a:cs typeface="Arial"/>
              </a:rPr>
              <a:t> </a:t>
            </a:r>
            <a:r>
              <a:rPr dirty="0" sz="1350" spc="65">
                <a:latin typeface="Arial"/>
                <a:cs typeface="Arial"/>
              </a:rPr>
              <a:t>dotnet</a:t>
            </a:r>
            <a:r>
              <a:rPr dirty="0" sz="1350" spc="9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ef</a:t>
            </a:r>
            <a:r>
              <a:rPr dirty="0" sz="1350" spc="9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database</a:t>
            </a:r>
            <a:r>
              <a:rPr dirty="0" sz="1350" spc="95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update</a:t>
            </a:r>
            <a:endParaRPr sz="13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145374" y="7273276"/>
            <a:ext cx="418846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latin typeface="Arial"/>
                <a:cs typeface="Arial"/>
              </a:rPr>
              <a:t>only</a:t>
            </a:r>
            <a:r>
              <a:rPr dirty="0" sz="1350" spc="-1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once</a:t>
            </a:r>
            <a:r>
              <a:rPr dirty="0" sz="1350" spc="-1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to</a:t>
            </a:r>
            <a:r>
              <a:rPr dirty="0" sz="1350" spc="-10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apply</a:t>
            </a:r>
            <a:r>
              <a:rPr dirty="0" sz="1350" spc="-1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database</a:t>
            </a:r>
            <a:r>
              <a:rPr dirty="0" sz="1350" spc="-10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migrations</a:t>
            </a:r>
            <a:r>
              <a:rPr dirty="0" sz="1350" spc="-1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on</a:t>
            </a:r>
            <a:r>
              <a:rPr dirty="0" sz="1350" spc="-10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the</a:t>
            </a:r>
            <a:r>
              <a:rPr dirty="0" sz="1350" spc="-1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first</a:t>
            </a:r>
            <a:r>
              <a:rPr dirty="0" sz="1350" spc="-10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run.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48171" y="456014"/>
            <a:ext cx="459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/>
              <a:t>Backend:</a:t>
            </a:r>
            <a:r>
              <a:rPr dirty="0" sz="3000" spc="-30"/>
              <a:t> </a:t>
            </a:r>
            <a:r>
              <a:rPr dirty="0" sz="3000"/>
              <a:t>ASP.NET</a:t>
            </a:r>
            <a:r>
              <a:rPr dirty="0" sz="3000" spc="-25"/>
              <a:t> </a:t>
            </a:r>
            <a:r>
              <a:rPr dirty="0" sz="3000"/>
              <a:t>Core</a:t>
            </a:r>
            <a:r>
              <a:rPr dirty="0" sz="3000" spc="-25"/>
              <a:t> </a:t>
            </a:r>
            <a:r>
              <a:rPr dirty="0" sz="3000" spc="-50"/>
              <a:t>9</a:t>
            </a:r>
            <a:endParaRPr sz="3000"/>
          </a:p>
        </p:txBody>
      </p:sp>
      <p:sp>
        <p:nvSpPr>
          <p:cNvPr id="4" name="object 4" descr=""/>
          <p:cNvSpPr txBox="1"/>
          <p:nvPr/>
        </p:nvSpPr>
        <p:spPr>
          <a:xfrm>
            <a:off x="12326239" y="1180386"/>
            <a:ext cx="978535" cy="2603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603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ITenantEntity</a:t>
            </a:r>
            <a:endParaRPr sz="12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335942" y="1228303"/>
            <a:ext cx="29019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5">
                <a:solidFill>
                  <a:srgbClr val="2B3541"/>
                </a:solidFill>
                <a:latin typeface="Arial"/>
                <a:cs typeface="Arial"/>
              </a:rPr>
              <a:t>and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48171" y="1152578"/>
            <a:ext cx="6243320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9800"/>
              </a:lnSpc>
              <a:spcBef>
                <a:spcPts val="100"/>
              </a:spcBef>
            </a:pP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25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backend</a:t>
            </a:r>
            <a:r>
              <a:rPr dirty="0" sz="125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project</a:t>
            </a:r>
            <a:r>
              <a:rPr dirty="0" sz="125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structure</a:t>
            </a:r>
            <a:r>
              <a:rPr dirty="0" sz="125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follows</a:t>
            </a:r>
            <a:r>
              <a:rPr dirty="0" sz="125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a</a:t>
            </a:r>
            <a:r>
              <a:rPr dirty="0" sz="125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standard</a:t>
            </a:r>
            <a:r>
              <a:rPr dirty="0" sz="125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pattern,</a:t>
            </a:r>
            <a:r>
              <a:rPr dirty="0" sz="125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focusing</a:t>
            </a:r>
            <a:r>
              <a:rPr dirty="0" sz="125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on</a:t>
            </a:r>
            <a:r>
              <a:rPr dirty="0" sz="125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tenant</a:t>
            </a:r>
            <a:r>
              <a:rPr dirty="0" sz="125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isolation</a:t>
            </a:r>
            <a:r>
              <a:rPr dirty="0" sz="125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2B3541"/>
                </a:solidFill>
                <a:latin typeface="Arial"/>
                <a:cs typeface="Arial"/>
              </a:rPr>
              <a:t>via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utilizing</a:t>
            </a:r>
            <a:r>
              <a:rPr dirty="0" sz="125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EF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Core</a:t>
            </a:r>
            <a:r>
              <a:rPr dirty="0" sz="125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global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query</a:t>
            </a:r>
            <a:r>
              <a:rPr dirty="0" sz="125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filters.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038011" y="2326246"/>
            <a:ext cx="8029575" cy="1262380"/>
            <a:chOff x="6038011" y="2326246"/>
            <a:chExt cx="8029575" cy="1262380"/>
          </a:xfrm>
        </p:grpSpPr>
        <p:sp>
          <p:nvSpPr>
            <p:cNvPr id="8" name="object 8" descr=""/>
            <p:cNvSpPr/>
            <p:nvPr/>
          </p:nvSpPr>
          <p:spPr>
            <a:xfrm>
              <a:off x="6060871" y="2337676"/>
              <a:ext cx="7995284" cy="1239520"/>
            </a:xfrm>
            <a:custGeom>
              <a:avLst/>
              <a:gdLst/>
              <a:ahLst/>
              <a:cxnLst/>
              <a:rect l="l" t="t" r="r" b="b"/>
              <a:pathLst>
                <a:path w="7995284" h="1239520">
                  <a:moveTo>
                    <a:pt x="7885328" y="0"/>
                  </a:moveTo>
                  <a:lnTo>
                    <a:pt x="109722" y="0"/>
                  </a:lnTo>
                  <a:lnTo>
                    <a:pt x="67184" y="8679"/>
                  </a:lnTo>
                  <a:lnTo>
                    <a:pt x="32289" y="32289"/>
                  </a:lnTo>
                  <a:lnTo>
                    <a:pt x="8679" y="67186"/>
                  </a:lnTo>
                  <a:lnTo>
                    <a:pt x="0" y="109727"/>
                  </a:lnTo>
                  <a:lnTo>
                    <a:pt x="0" y="1129245"/>
                  </a:lnTo>
                  <a:lnTo>
                    <a:pt x="8679" y="1171779"/>
                  </a:lnTo>
                  <a:lnTo>
                    <a:pt x="32289" y="1206673"/>
                  </a:lnTo>
                  <a:lnTo>
                    <a:pt x="67184" y="1230281"/>
                  </a:lnTo>
                  <a:lnTo>
                    <a:pt x="109722" y="1238961"/>
                  </a:lnTo>
                  <a:lnTo>
                    <a:pt x="7885328" y="1238961"/>
                  </a:lnTo>
                  <a:lnTo>
                    <a:pt x="7927862" y="1230281"/>
                  </a:lnTo>
                  <a:lnTo>
                    <a:pt x="7962755" y="1206673"/>
                  </a:lnTo>
                  <a:lnTo>
                    <a:pt x="7986364" y="1171779"/>
                  </a:lnTo>
                  <a:lnTo>
                    <a:pt x="7995043" y="1129245"/>
                  </a:lnTo>
                  <a:lnTo>
                    <a:pt x="7995043" y="109727"/>
                  </a:lnTo>
                  <a:lnTo>
                    <a:pt x="7986364" y="67186"/>
                  </a:lnTo>
                  <a:lnTo>
                    <a:pt x="7962755" y="32289"/>
                  </a:lnTo>
                  <a:lnTo>
                    <a:pt x="7927862" y="8679"/>
                  </a:lnTo>
                  <a:lnTo>
                    <a:pt x="7885328" y="0"/>
                  </a:lnTo>
                  <a:close/>
                </a:path>
              </a:pathLst>
            </a:custGeom>
            <a:solidFill>
              <a:srgbClr val="F9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060871" y="2337676"/>
              <a:ext cx="7995284" cy="1239520"/>
            </a:xfrm>
            <a:custGeom>
              <a:avLst/>
              <a:gdLst/>
              <a:ahLst/>
              <a:cxnLst/>
              <a:rect l="l" t="t" r="r" b="b"/>
              <a:pathLst>
                <a:path w="7995284" h="1239520">
                  <a:moveTo>
                    <a:pt x="0" y="109727"/>
                  </a:moveTo>
                  <a:lnTo>
                    <a:pt x="8679" y="67186"/>
                  </a:lnTo>
                  <a:lnTo>
                    <a:pt x="32289" y="32289"/>
                  </a:lnTo>
                  <a:lnTo>
                    <a:pt x="67184" y="8679"/>
                  </a:lnTo>
                  <a:lnTo>
                    <a:pt x="109722" y="0"/>
                  </a:lnTo>
                  <a:lnTo>
                    <a:pt x="7885328" y="0"/>
                  </a:lnTo>
                  <a:lnTo>
                    <a:pt x="7927862" y="8679"/>
                  </a:lnTo>
                  <a:lnTo>
                    <a:pt x="7962755" y="32289"/>
                  </a:lnTo>
                  <a:lnTo>
                    <a:pt x="7986364" y="67186"/>
                  </a:lnTo>
                  <a:lnTo>
                    <a:pt x="7995043" y="109727"/>
                  </a:lnTo>
                  <a:lnTo>
                    <a:pt x="7995043" y="1129245"/>
                  </a:lnTo>
                  <a:lnTo>
                    <a:pt x="7986364" y="1171779"/>
                  </a:lnTo>
                  <a:lnTo>
                    <a:pt x="7962755" y="1206673"/>
                  </a:lnTo>
                  <a:lnTo>
                    <a:pt x="7927862" y="1230281"/>
                  </a:lnTo>
                  <a:lnTo>
                    <a:pt x="7885328" y="1238961"/>
                  </a:lnTo>
                  <a:lnTo>
                    <a:pt x="109722" y="1238961"/>
                  </a:lnTo>
                  <a:lnTo>
                    <a:pt x="67184" y="1230281"/>
                  </a:lnTo>
                  <a:lnTo>
                    <a:pt x="32289" y="1206673"/>
                  </a:lnTo>
                  <a:lnTo>
                    <a:pt x="8679" y="1171779"/>
                  </a:lnTo>
                  <a:lnTo>
                    <a:pt x="0" y="1129245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D4CDB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038011" y="2337676"/>
              <a:ext cx="91440" cy="1239520"/>
            </a:xfrm>
            <a:custGeom>
              <a:avLst/>
              <a:gdLst/>
              <a:ahLst/>
              <a:cxnLst/>
              <a:rect l="l" t="t" r="r" b="b"/>
              <a:pathLst>
                <a:path w="91439" h="1239520">
                  <a:moveTo>
                    <a:pt x="45719" y="0"/>
                  </a:moveTo>
                  <a:lnTo>
                    <a:pt x="27994" y="3616"/>
                  </a:lnTo>
                  <a:lnTo>
                    <a:pt x="13454" y="13454"/>
                  </a:lnTo>
                  <a:lnTo>
                    <a:pt x="3616" y="27994"/>
                  </a:lnTo>
                  <a:lnTo>
                    <a:pt x="0" y="45720"/>
                  </a:lnTo>
                  <a:lnTo>
                    <a:pt x="0" y="1193241"/>
                  </a:lnTo>
                  <a:lnTo>
                    <a:pt x="3616" y="1210966"/>
                  </a:lnTo>
                  <a:lnTo>
                    <a:pt x="13454" y="1225507"/>
                  </a:lnTo>
                  <a:lnTo>
                    <a:pt x="27994" y="1235344"/>
                  </a:lnTo>
                  <a:lnTo>
                    <a:pt x="45720" y="1238961"/>
                  </a:lnTo>
                  <a:lnTo>
                    <a:pt x="63444" y="1235344"/>
                  </a:lnTo>
                  <a:lnTo>
                    <a:pt x="77985" y="1225507"/>
                  </a:lnTo>
                  <a:lnTo>
                    <a:pt x="87823" y="1210966"/>
                  </a:lnTo>
                  <a:lnTo>
                    <a:pt x="91440" y="1193241"/>
                  </a:lnTo>
                  <a:lnTo>
                    <a:pt x="91440" y="45720"/>
                  </a:lnTo>
                  <a:lnTo>
                    <a:pt x="87823" y="27994"/>
                  </a:lnTo>
                  <a:lnTo>
                    <a:pt x="77985" y="13454"/>
                  </a:lnTo>
                  <a:lnTo>
                    <a:pt x="63444" y="3616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3370A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048171" y="1944154"/>
            <a:ext cx="2671445" cy="830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Key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concepts</a:t>
            </a:r>
            <a:r>
              <a:rPr dirty="0" sz="12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governing</a:t>
            </a:r>
            <a:r>
              <a:rPr dirty="0" sz="12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2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backend: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250">
              <a:latin typeface="Arial"/>
              <a:cs typeface="Arial"/>
            </a:endParaRPr>
          </a:p>
          <a:p>
            <a:pPr marL="267970">
              <a:lnSpc>
                <a:spcPct val="100000"/>
              </a:lnSpc>
            </a:pP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Tenant</a:t>
            </a:r>
            <a:r>
              <a:rPr dirty="0" sz="15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Isolation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03683" y="2912325"/>
            <a:ext cx="196659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Every</a:t>
            </a:r>
            <a:r>
              <a:rPr dirty="0" sz="125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data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entity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includes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50">
                <a:solidFill>
                  <a:srgbClr val="2B3541"/>
                </a:solidFill>
                <a:latin typeface="Arial"/>
                <a:cs typeface="Arial"/>
              </a:rPr>
              <a:t>a</a:t>
            </a:r>
            <a:endParaRPr sz="12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301825" y="2864408"/>
            <a:ext cx="657860" cy="2603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603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TenantId</a:t>
            </a:r>
            <a:endParaRPr sz="12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946751" y="2912325"/>
            <a:ext cx="487807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,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2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a</a:t>
            </a:r>
            <a:r>
              <a:rPr dirty="0" sz="12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filter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is</a:t>
            </a:r>
            <a:r>
              <a:rPr dirty="0" sz="12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applied</a:t>
            </a:r>
            <a:r>
              <a:rPr dirty="0" sz="12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2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ensure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each</a:t>
            </a:r>
            <a:r>
              <a:rPr dirty="0" sz="12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tenant</a:t>
            </a:r>
            <a:r>
              <a:rPr dirty="0" sz="12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accesses</a:t>
            </a:r>
            <a:r>
              <a:rPr dirty="0" sz="12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only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their</a:t>
            </a:r>
            <a:r>
              <a:rPr dirty="0" sz="12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2B3541"/>
                </a:solidFill>
                <a:latin typeface="Arial"/>
                <a:cs typeface="Arial"/>
              </a:rPr>
              <a:t>own</a:t>
            </a:r>
            <a:endParaRPr sz="12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303690" y="3172675"/>
            <a:ext cx="37846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data:</a:t>
            </a:r>
            <a:endParaRPr sz="12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713565" y="3124758"/>
            <a:ext cx="5347970" cy="2603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603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HasQueryFilter(e</a:t>
            </a:r>
            <a:r>
              <a:rPr dirty="0" sz="1250" spc="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=&gt;</a:t>
            </a:r>
            <a:r>
              <a:rPr dirty="0" sz="1250" spc="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EF.Property(e,</a:t>
            </a:r>
            <a:r>
              <a:rPr dirty="0" sz="1250" spc="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"TenantId")</a:t>
            </a:r>
            <a:r>
              <a:rPr dirty="0" sz="1250" spc="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==</a:t>
            </a:r>
            <a:r>
              <a:rPr dirty="0" sz="1250" spc="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GetCurrentTenantId());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6038011" y="3729278"/>
            <a:ext cx="8029575" cy="1262380"/>
            <a:chOff x="6038011" y="3729278"/>
            <a:chExt cx="8029575" cy="1262380"/>
          </a:xfrm>
        </p:grpSpPr>
        <p:sp>
          <p:nvSpPr>
            <p:cNvPr id="18" name="object 18" descr=""/>
            <p:cNvSpPr/>
            <p:nvPr/>
          </p:nvSpPr>
          <p:spPr>
            <a:xfrm>
              <a:off x="6060871" y="3740708"/>
              <a:ext cx="7995284" cy="1239520"/>
            </a:xfrm>
            <a:custGeom>
              <a:avLst/>
              <a:gdLst/>
              <a:ahLst/>
              <a:cxnLst/>
              <a:rect l="l" t="t" r="r" b="b"/>
              <a:pathLst>
                <a:path w="7995284" h="1239520">
                  <a:moveTo>
                    <a:pt x="7885328" y="0"/>
                  </a:moveTo>
                  <a:lnTo>
                    <a:pt x="109722" y="0"/>
                  </a:lnTo>
                  <a:lnTo>
                    <a:pt x="67184" y="8679"/>
                  </a:lnTo>
                  <a:lnTo>
                    <a:pt x="32289" y="32289"/>
                  </a:lnTo>
                  <a:lnTo>
                    <a:pt x="8679" y="67186"/>
                  </a:lnTo>
                  <a:lnTo>
                    <a:pt x="0" y="109727"/>
                  </a:lnTo>
                  <a:lnTo>
                    <a:pt x="0" y="1129245"/>
                  </a:lnTo>
                  <a:lnTo>
                    <a:pt x="8679" y="1171779"/>
                  </a:lnTo>
                  <a:lnTo>
                    <a:pt x="32289" y="1206673"/>
                  </a:lnTo>
                  <a:lnTo>
                    <a:pt x="67184" y="1230281"/>
                  </a:lnTo>
                  <a:lnTo>
                    <a:pt x="109722" y="1238961"/>
                  </a:lnTo>
                  <a:lnTo>
                    <a:pt x="7885328" y="1238961"/>
                  </a:lnTo>
                  <a:lnTo>
                    <a:pt x="7927862" y="1230281"/>
                  </a:lnTo>
                  <a:lnTo>
                    <a:pt x="7962755" y="1206673"/>
                  </a:lnTo>
                  <a:lnTo>
                    <a:pt x="7986364" y="1171779"/>
                  </a:lnTo>
                  <a:lnTo>
                    <a:pt x="7995043" y="1129245"/>
                  </a:lnTo>
                  <a:lnTo>
                    <a:pt x="7995043" y="109727"/>
                  </a:lnTo>
                  <a:lnTo>
                    <a:pt x="7986364" y="67186"/>
                  </a:lnTo>
                  <a:lnTo>
                    <a:pt x="7962755" y="32289"/>
                  </a:lnTo>
                  <a:lnTo>
                    <a:pt x="7927862" y="8679"/>
                  </a:lnTo>
                  <a:lnTo>
                    <a:pt x="7885328" y="0"/>
                  </a:lnTo>
                  <a:close/>
                </a:path>
              </a:pathLst>
            </a:custGeom>
            <a:solidFill>
              <a:srgbClr val="F9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060871" y="3740708"/>
              <a:ext cx="7995284" cy="1239520"/>
            </a:xfrm>
            <a:custGeom>
              <a:avLst/>
              <a:gdLst/>
              <a:ahLst/>
              <a:cxnLst/>
              <a:rect l="l" t="t" r="r" b="b"/>
              <a:pathLst>
                <a:path w="7995284" h="1239520">
                  <a:moveTo>
                    <a:pt x="0" y="109727"/>
                  </a:moveTo>
                  <a:lnTo>
                    <a:pt x="8679" y="67186"/>
                  </a:lnTo>
                  <a:lnTo>
                    <a:pt x="32289" y="32289"/>
                  </a:lnTo>
                  <a:lnTo>
                    <a:pt x="67184" y="8679"/>
                  </a:lnTo>
                  <a:lnTo>
                    <a:pt x="109722" y="0"/>
                  </a:lnTo>
                  <a:lnTo>
                    <a:pt x="7885328" y="0"/>
                  </a:lnTo>
                  <a:lnTo>
                    <a:pt x="7927862" y="8679"/>
                  </a:lnTo>
                  <a:lnTo>
                    <a:pt x="7962755" y="32289"/>
                  </a:lnTo>
                  <a:lnTo>
                    <a:pt x="7986364" y="67186"/>
                  </a:lnTo>
                  <a:lnTo>
                    <a:pt x="7995043" y="109727"/>
                  </a:lnTo>
                  <a:lnTo>
                    <a:pt x="7995043" y="1129245"/>
                  </a:lnTo>
                  <a:lnTo>
                    <a:pt x="7986364" y="1171779"/>
                  </a:lnTo>
                  <a:lnTo>
                    <a:pt x="7962755" y="1206673"/>
                  </a:lnTo>
                  <a:lnTo>
                    <a:pt x="7927862" y="1230281"/>
                  </a:lnTo>
                  <a:lnTo>
                    <a:pt x="7885328" y="1238961"/>
                  </a:lnTo>
                  <a:lnTo>
                    <a:pt x="109722" y="1238961"/>
                  </a:lnTo>
                  <a:lnTo>
                    <a:pt x="67184" y="1230281"/>
                  </a:lnTo>
                  <a:lnTo>
                    <a:pt x="32289" y="1206673"/>
                  </a:lnTo>
                  <a:lnTo>
                    <a:pt x="8679" y="1171779"/>
                  </a:lnTo>
                  <a:lnTo>
                    <a:pt x="0" y="1129245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D4CDB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038011" y="3740708"/>
              <a:ext cx="91440" cy="1239520"/>
            </a:xfrm>
            <a:custGeom>
              <a:avLst/>
              <a:gdLst/>
              <a:ahLst/>
              <a:cxnLst/>
              <a:rect l="l" t="t" r="r" b="b"/>
              <a:pathLst>
                <a:path w="91439" h="1239520">
                  <a:moveTo>
                    <a:pt x="45719" y="0"/>
                  </a:moveTo>
                  <a:lnTo>
                    <a:pt x="27994" y="3616"/>
                  </a:lnTo>
                  <a:lnTo>
                    <a:pt x="13454" y="13454"/>
                  </a:lnTo>
                  <a:lnTo>
                    <a:pt x="3616" y="27994"/>
                  </a:lnTo>
                  <a:lnTo>
                    <a:pt x="0" y="45720"/>
                  </a:lnTo>
                  <a:lnTo>
                    <a:pt x="0" y="1193241"/>
                  </a:lnTo>
                  <a:lnTo>
                    <a:pt x="3616" y="1210966"/>
                  </a:lnTo>
                  <a:lnTo>
                    <a:pt x="13454" y="1225507"/>
                  </a:lnTo>
                  <a:lnTo>
                    <a:pt x="27994" y="1235344"/>
                  </a:lnTo>
                  <a:lnTo>
                    <a:pt x="45720" y="1238961"/>
                  </a:lnTo>
                  <a:lnTo>
                    <a:pt x="63444" y="1235344"/>
                  </a:lnTo>
                  <a:lnTo>
                    <a:pt x="77985" y="1225507"/>
                  </a:lnTo>
                  <a:lnTo>
                    <a:pt x="87823" y="1210966"/>
                  </a:lnTo>
                  <a:lnTo>
                    <a:pt x="91440" y="1193241"/>
                  </a:lnTo>
                  <a:lnTo>
                    <a:pt x="91440" y="45720"/>
                  </a:lnTo>
                  <a:lnTo>
                    <a:pt x="87823" y="27994"/>
                  </a:lnTo>
                  <a:lnTo>
                    <a:pt x="77985" y="13454"/>
                  </a:lnTo>
                  <a:lnTo>
                    <a:pt x="63444" y="3616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3370A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303683" y="3923614"/>
            <a:ext cx="23641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Feature</a:t>
            </a:r>
            <a:r>
              <a:rPr dirty="0" sz="15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Flags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Management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2140234" y="4267441"/>
            <a:ext cx="321945" cy="260350"/>
          </a:xfrm>
          <a:custGeom>
            <a:avLst/>
            <a:gdLst/>
            <a:ahLst/>
            <a:cxnLst/>
            <a:rect l="l" t="t" r="r" b="b"/>
            <a:pathLst>
              <a:path w="321945" h="260350">
                <a:moveTo>
                  <a:pt x="321449" y="0"/>
                </a:moveTo>
                <a:lnTo>
                  <a:pt x="0" y="0"/>
                </a:lnTo>
                <a:lnTo>
                  <a:pt x="0" y="260350"/>
                </a:lnTo>
                <a:lnTo>
                  <a:pt x="321449" y="260350"/>
                </a:lnTo>
                <a:lnTo>
                  <a:pt x="321449" y="0"/>
                </a:lnTo>
                <a:close/>
              </a:path>
            </a:pathLst>
          </a:custGeom>
          <a:solidFill>
            <a:srgbClr val="ECE8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6303683" y="4315358"/>
            <a:ext cx="29908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5">
                <a:solidFill>
                  <a:srgbClr val="2B3541"/>
                </a:solidFill>
                <a:latin typeface="Arial"/>
                <a:cs typeface="Arial"/>
              </a:rPr>
              <a:t>The</a:t>
            </a:r>
            <a:endParaRPr sz="125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634035" y="4267441"/>
            <a:ext cx="864235" cy="2603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603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FeatureFlag</a:t>
            </a:r>
            <a:endParaRPr sz="125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529408" y="4315358"/>
            <a:ext cx="604774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table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defines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features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available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each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tenant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based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on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their</a:t>
            </a:r>
            <a:r>
              <a:rPr dirty="0" sz="12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Plan.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Templates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2B3541"/>
                </a:solidFill>
                <a:latin typeface="Arial"/>
                <a:cs typeface="Arial"/>
              </a:rPr>
              <a:t>are</a:t>
            </a:r>
            <a:endParaRPr sz="125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303679" y="4581583"/>
            <a:ext cx="292671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copied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when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a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new</a:t>
            </a:r>
            <a:r>
              <a:rPr dirty="0" sz="12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tenant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is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provisioned.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6038011" y="5132311"/>
            <a:ext cx="8029575" cy="1262380"/>
            <a:chOff x="6038011" y="5132311"/>
            <a:chExt cx="8029575" cy="1262380"/>
          </a:xfrm>
        </p:grpSpPr>
        <p:sp>
          <p:nvSpPr>
            <p:cNvPr id="28" name="object 28" descr=""/>
            <p:cNvSpPr/>
            <p:nvPr/>
          </p:nvSpPr>
          <p:spPr>
            <a:xfrm>
              <a:off x="6060871" y="5143741"/>
              <a:ext cx="7995284" cy="1239520"/>
            </a:xfrm>
            <a:custGeom>
              <a:avLst/>
              <a:gdLst/>
              <a:ahLst/>
              <a:cxnLst/>
              <a:rect l="l" t="t" r="r" b="b"/>
              <a:pathLst>
                <a:path w="7995284" h="1239520">
                  <a:moveTo>
                    <a:pt x="7885328" y="0"/>
                  </a:moveTo>
                  <a:lnTo>
                    <a:pt x="109722" y="0"/>
                  </a:lnTo>
                  <a:lnTo>
                    <a:pt x="67184" y="8679"/>
                  </a:lnTo>
                  <a:lnTo>
                    <a:pt x="32289" y="32289"/>
                  </a:lnTo>
                  <a:lnTo>
                    <a:pt x="8679" y="67186"/>
                  </a:lnTo>
                  <a:lnTo>
                    <a:pt x="0" y="109727"/>
                  </a:lnTo>
                  <a:lnTo>
                    <a:pt x="0" y="1129245"/>
                  </a:lnTo>
                  <a:lnTo>
                    <a:pt x="8679" y="1171779"/>
                  </a:lnTo>
                  <a:lnTo>
                    <a:pt x="32289" y="1206673"/>
                  </a:lnTo>
                  <a:lnTo>
                    <a:pt x="67184" y="1230281"/>
                  </a:lnTo>
                  <a:lnTo>
                    <a:pt x="109722" y="1238961"/>
                  </a:lnTo>
                  <a:lnTo>
                    <a:pt x="7885328" y="1238961"/>
                  </a:lnTo>
                  <a:lnTo>
                    <a:pt x="7927862" y="1230281"/>
                  </a:lnTo>
                  <a:lnTo>
                    <a:pt x="7962755" y="1206673"/>
                  </a:lnTo>
                  <a:lnTo>
                    <a:pt x="7986364" y="1171779"/>
                  </a:lnTo>
                  <a:lnTo>
                    <a:pt x="7995043" y="1129245"/>
                  </a:lnTo>
                  <a:lnTo>
                    <a:pt x="7995043" y="109727"/>
                  </a:lnTo>
                  <a:lnTo>
                    <a:pt x="7986364" y="67186"/>
                  </a:lnTo>
                  <a:lnTo>
                    <a:pt x="7962755" y="32289"/>
                  </a:lnTo>
                  <a:lnTo>
                    <a:pt x="7927862" y="8679"/>
                  </a:lnTo>
                  <a:lnTo>
                    <a:pt x="7885328" y="0"/>
                  </a:lnTo>
                  <a:close/>
                </a:path>
              </a:pathLst>
            </a:custGeom>
            <a:solidFill>
              <a:srgbClr val="F9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060871" y="5143741"/>
              <a:ext cx="7995284" cy="1239520"/>
            </a:xfrm>
            <a:custGeom>
              <a:avLst/>
              <a:gdLst/>
              <a:ahLst/>
              <a:cxnLst/>
              <a:rect l="l" t="t" r="r" b="b"/>
              <a:pathLst>
                <a:path w="7995284" h="1239520">
                  <a:moveTo>
                    <a:pt x="0" y="109727"/>
                  </a:moveTo>
                  <a:lnTo>
                    <a:pt x="8679" y="67186"/>
                  </a:lnTo>
                  <a:lnTo>
                    <a:pt x="32289" y="32289"/>
                  </a:lnTo>
                  <a:lnTo>
                    <a:pt x="67184" y="8679"/>
                  </a:lnTo>
                  <a:lnTo>
                    <a:pt x="109722" y="0"/>
                  </a:lnTo>
                  <a:lnTo>
                    <a:pt x="7885328" y="0"/>
                  </a:lnTo>
                  <a:lnTo>
                    <a:pt x="7927862" y="8679"/>
                  </a:lnTo>
                  <a:lnTo>
                    <a:pt x="7962755" y="32289"/>
                  </a:lnTo>
                  <a:lnTo>
                    <a:pt x="7986364" y="67186"/>
                  </a:lnTo>
                  <a:lnTo>
                    <a:pt x="7995043" y="109727"/>
                  </a:lnTo>
                  <a:lnTo>
                    <a:pt x="7995043" y="1129245"/>
                  </a:lnTo>
                  <a:lnTo>
                    <a:pt x="7986364" y="1171779"/>
                  </a:lnTo>
                  <a:lnTo>
                    <a:pt x="7962755" y="1206673"/>
                  </a:lnTo>
                  <a:lnTo>
                    <a:pt x="7927862" y="1230281"/>
                  </a:lnTo>
                  <a:lnTo>
                    <a:pt x="7885328" y="1238961"/>
                  </a:lnTo>
                  <a:lnTo>
                    <a:pt x="109722" y="1238961"/>
                  </a:lnTo>
                  <a:lnTo>
                    <a:pt x="67184" y="1230281"/>
                  </a:lnTo>
                  <a:lnTo>
                    <a:pt x="32289" y="1206673"/>
                  </a:lnTo>
                  <a:lnTo>
                    <a:pt x="8679" y="1171779"/>
                  </a:lnTo>
                  <a:lnTo>
                    <a:pt x="0" y="1129245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D4CDB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038011" y="5143741"/>
              <a:ext cx="91440" cy="1239520"/>
            </a:xfrm>
            <a:custGeom>
              <a:avLst/>
              <a:gdLst/>
              <a:ahLst/>
              <a:cxnLst/>
              <a:rect l="l" t="t" r="r" b="b"/>
              <a:pathLst>
                <a:path w="91439" h="1239520">
                  <a:moveTo>
                    <a:pt x="45719" y="0"/>
                  </a:moveTo>
                  <a:lnTo>
                    <a:pt x="27994" y="3616"/>
                  </a:lnTo>
                  <a:lnTo>
                    <a:pt x="13454" y="13454"/>
                  </a:lnTo>
                  <a:lnTo>
                    <a:pt x="3616" y="27994"/>
                  </a:lnTo>
                  <a:lnTo>
                    <a:pt x="0" y="45720"/>
                  </a:lnTo>
                  <a:lnTo>
                    <a:pt x="0" y="1193241"/>
                  </a:lnTo>
                  <a:lnTo>
                    <a:pt x="3616" y="1210966"/>
                  </a:lnTo>
                  <a:lnTo>
                    <a:pt x="13454" y="1225507"/>
                  </a:lnTo>
                  <a:lnTo>
                    <a:pt x="27994" y="1235344"/>
                  </a:lnTo>
                  <a:lnTo>
                    <a:pt x="45720" y="1238961"/>
                  </a:lnTo>
                  <a:lnTo>
                    <a:pt x="63444" y="1235344"/>
                  </a:lnTo>
                  <a:lnTo>
                    <a:pt x="77985" y="1225507"/>
                  </a:lnTo>
                  <a:lnTo>
                    <a:pt x="87823" y="1210966"/>
                  </a:lnTo>
                  <a:lnTo>
                    <a:pt x="91440" y="1193241"/>
                  </a:lnTo>
                  <a:lnTo>
                    <a:pt x="91440" y="45720"/>
                  </a:lnTo>
                  <a:lnTo>
                    <a:pt x="87823" y="27994"/>
                  </a:lnTo>
                  <a:lnTo>
                    <a:pt x="77985" y="13454"/>
                  </a:lnTo>
                  <a:lnTo>
                    <a:pt x="63444" y="3616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3370A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6303683" y="5326633"/>
            <a:ext cx="7080250" cy="8743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Provisioning</a:t>
            </a:r>
            <a:r>
              <a:rPr dirty="0" sz="1500" spc="-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Service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36700"/>
              </a:lnSpc>
              <a:spcBef>
                <a:spcPts val="780"/>
              </a:spcBef>
            </a:pP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Responsible</a:t>
            </a:r>
            <a:r>
              <a:rPr dirty="0" sz="12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for</a:t>
            </a:r>
            <a:r>
              <a:rPr dirty="0" sz="12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creating</a:t>
            </a:r>
            <a:r>
              <a:rPr dirty="0" sz="12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2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tenant,</a:t>
            </a:r>
            <a:r>
              <a:rPr dirty="0" sz="12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Stripe</a:t>
            </a:r>
            <a:r>
              <a:rPr dirty="0" sz="12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customer,</a:t>
            </a:r>
            <a:r>
              <a:rPr dirty="0" sz="12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admin</a:t>
            </a:r>
            <a:r>
              <a:rPr dirty="0" sz="12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user,</a:t>
            </a:r>
            <a:r>
              <a:rPr dirty="0" sz="12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copying</a:t>
            </a:r>
            <a:r>
              <a:rPr dirty="0" sz="12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initial</a:t>
            </a:r>
            <a:r>
              <a:rPr dirty="0" sz="125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feature</a:t>
            </a:r>
            <a:r>
              <a:rPr dirty="0" sz="12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settings,</a:t>
            </a:r>
            <a:r>
              <a:rPr dirty="0" sz="12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2B3541"/>
                </a:solidFill>
                <a:latin typeface="Arial"/>
                <a:cs typeface="Arial"/>
              </a:rPr>
              <a:t>and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sending</a:t>
            </a:r>
            <a:r>
              <a:rPr dirty="0" sz="125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25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welcome</a:t>
            </a:r>
            <a:r>
              <a:rPr dirty="0" sz="125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email.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6038011" y="6535343"/>
            <a:ext cx="8029575" cy="1262380"/>
            <a:chOff x="6038011" y="6535343"/>
            <a:chExt cx="8029575" cy="1262380"/>
          </a:xfrm>
        </p:grpSpPr>
        <p:sp>
          <p:nvSpPr>
            <p:cNvPr id="33" name="object 33" descr=""/>
            <p:cNvSpPr/>
            <p:nvPr/>
          </p:nvSpPr>
          <p:spPr>
            <a:xfrm>
              <a:off x="6060871" y="6546773"/>
              <a:ext cx="7995284" cy="1239520"/>
            </a:xfrm>
            <a:custGeom>
              <a:avLst/>
              <a:gdLst/>
              <a:ahLst/>
              <a:cxnLst/>
              <a:rect l="l" t="t" r="r" b="b"/>
              <a:pathLst>
                <a:path w="7995284" h="1239520">
                  <a:moveTo>
                    <a:pt x="7885328" y="0"/>
                  </a:moveTo>
                  <a:lnTo>
                    <a:pt x="109722" y="0"/>
                  </a:lnTo>
                  <a:lnTo>
                    <a:pt x="67184" y="8679"/>
                  </a:lnTo>
                  <a:lnTo>
                    <a:pt x="32289" y="32289"/>
                  </a:lnTo>
                  <a:lnTo>
                    <a:pt x="8679" y="67186"/>
                  </a:lnTo>
                  <a:lnTo>
                    <a:pt x="0" y="109727"/>
                  </a:lnTo>
                  <a:lnTo>
                    <a:pt x="0" y="1129245"/>
                  </a:lnTo>
                  <a:lnTo>
                    <a:pt x="8679" y="1171779"/>
                  </a:lnTo>
                  <a:lnTo>
                    <a:pt x="32289" y="1206673"/>
                  </a:lnTo>
                  <a:lnTo>
                    <a:pt x="67184" y="1230281"/>
                  </a:lnTo>
                  <a:lnTo>
                    <a:pt x="109722" y="1238961"/>
                  </a:lnTo>
                  <a:lnTo>
                    <a:pt x="7885328" y="1238961"/>
                  </a:lnTo>
                  <a:lnTo>
                    <a:pt x="7927862" y="1230281"/>
                  </a:lnTo>
                  <a:lnTo>
                    <a:pt x="7962755" y="1206673"/>
                  </a:lnTo>
                  <a:lnTo>
                    <a:pt x="7986364" y="1171779"/>
                  </a:lnTo>
                  <a:lnTo>
                    <a:pt x="7995043" y="1129245"/>
                  </a:lnTo>
                  <a:lnTo>
                    <a:pt x="7995043" y="109727"/>
                  </a:lnTo>
                  <a:lnTo>
                    <a:pt x="7986364" y="67186"/>
                  </a:lnTo>
                  <a:lnTo>
                    <a:pt x="7962755" y="32289"/>
                  </a:lnTo>
                  <a:lnTo>
                    <a:pt x="7927862" y="8679"/>
                  </a:lnTo>
                  <a:lnTo>
                    <a:pt x="7885328" y="0"/>
                  </a:lnTo>
                  <a:close/>
                </a:path>
              </a:pathLst>
            </a:custGeom>
            <a:solidFill>
              <a:srgbClr val="F9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060871" y="6546773"/>
              <a:ext cx="7995284" cy="1239520"/>
            </a:xfrm>
            <a:custGeom>
              <a:avLst/>
              <a:gdLst/>
              <a:ahLst/>
              <a:cxnLst/>
              <a:rect l="l" t="t" r="r" b="b"/>
              <a:pathLst>
                <a:path w="7995284" h="1239520">
                  <a:moveTo>
                    <a:pt x="0" y="109727"/>
                  </a:moveTo>
                  <a:lnTo>
                    <a:pt x="8679" y="67186"/>
                  </a:lnTo>
                  <a:lnTo>
                    <a:pt x="32289" y="32289"/>
                  </a:lnTo>
                  <a:lnTo>
                    <a:pt x="67184" y="8679"/>
                  </a:lnTo>
                  <a:lnTo>
                    <a:pt x="109722" y="0"/>
                  </a:lnTo>
                  <a:lnTo>
                    <a:pt x="7885328" y="0"/>
                  </a:lnTo>
                  <a:lnTo>
                    <a:pt x="7927862" y="8679"/>
                  </a:lnTo>
                  <a:lnTo>
                    <a:pt x="7962755" y="32289"/>
                  </a:lnTo>
                  <a:lnTo>
                    <a:pt x="7986364" y="67186"/>
                  </a:lnTo>
                  <a:lnTo>
                    <a:pt x="7995043" y="109727"/>
                  </a:lnTo>
                  <a:lnTo>
                    <a:pt x="7995043" y="1129245"/>
                  </a:lnTo>
                  <a:lnTo>
                    <a:pt x="7986364" y="1171779"/>
                  </a:lnTo>
                  <a:lnTo>
                    <a:pt x="7962755" y="1206673"/>
                  </a:lnTo>
                  <a:lnTo>
                    <a:pt x="7927862" y="1230281"/>
                  </a:lnTo>
                  <a:lnTo>
                    <a:pt x="7885328" y="1238961"/>
                  </a:lnTo>
                  <a:lnTo>
                    <a:pt x="109722" y="1238961"/>
                  </a:lnTo>
                  <a:lnTo>
                    <a:pt x="67184" y="1230281"/>
                  </a:lnTo>
                  <a:lnTo>
                    <a:pt x="32289" y="1206673"/>
                  </a:lnTo>
                  <a:lnTo>
                    <a:pt x="8679" y="1171779"/>
                  </a:lnTo>
                  <a:lnTo>
                    <a:pt x="0" y="1129245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D4CDB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038011" y="6546773"/>
              <a:ext cx="91440" cy="1239520"/>
            </a:xfrm>
            <a:custGeom>
              <a:avLst/>
              <a:gdLst/>
              <a:ahLst/>
              <a:cxnLst/>
              <a:rect l="l" t="t" r="r" b="b"/>
              <a:pathLst>
                <a:path w="91439" h="1239520">
                  <a:moveTo>
                    <a:pt x="45719" y="0"/>
                  </a:moveTo>
                  <a:lnTo>
                    <a:pt x="27994" y="3616"/>
                  </a:lnTo>
                  <a:lnTo>
                    <a:pt x="13454" y="13454"/>
                  </a:lnTo>
                  <a:lnTo>
                    <a:pt x="3616" y="27994"/>
                  </a:lnTo>
                  <a:lnTo>
                    <a:pt x="0" y="45720"/>
                  </a:lnTo>
                  <a:lnTo>
                    <a:pt x="0" y="1193241"/>
                  </a:lnTo>
                  <a:lnTo>
                    <a:pt x="3616" y="1210966"/>
                  </a:lnTo>
                  <a:lnTo>
                    <a:pt x="13454" y="1225507"/>
                  </a:lnTo>
                  <a:lnTo>
                    <a:pt x="27994" y="1235344"/>
                  </a:lnTo>
                  <a:lnTo>
                    <a:pt x="45720" y="1238961"/>
                  </a:lnTo>
                  <a:lnTo>
                    <a:pt x="63444" y="1235344"/>
                  </a:lnTo>
                  <a:lnTo>
                    <a:pt x="77985" y="1225507"/>
                  </a:lnTo>
                  <a:lnTo>
                    <a:pt x="87823" y="1210966"/>
                  </a:lnTo>
                  <a:lnTo>
                    <a:pt x="91440" y="1193241"/>
                  </a:lnTo>
                  <a:lnTo>
                    <a:pt x="91440" y="45720"/>
                  </a:lnTo>
                  <a:lnTo>
                    <a:pt x="87823" y="27994"/>
                  </a:lnTo>
                  <a:lnTo>
                    <a:pt x="77985" y="13454"/>
                  </a:lnTo>
                  <a:lnTo>
                    <a:pt x="63444" y="3616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3370A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6303683" y="6729679"/>
            <a:ext cx="21094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solidFill>
                  <a:srgbClr val="2B3541"/>
                </a:solidFill>
                <a:latin typeface="Arial"/>
                <a:cs typeface="Arial"/>
              </a:rPr>
              <a:t>Real-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time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Conversations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6316383" y="7073506"/>
            <a:ext cx="794385" cy="2603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603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AiChatHub</a:t>
            </a:r>
            <a:endParaRPr sz="125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7142146" y="7121423"/>
            <a:ext cx="29019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5">
                <a:solidFill>
                  <a:srgbClr val="2B3541"/>
                </a:solidFill>
                <a:latin typeface="Arial"/>
                <a:cs typeface="Arial"/>
              </a:rPr>
              <a:t>and</a:t>
            </a:r>
            <a:endParaRPr sz="125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7463816" y="7073506"/>
            <a:ext cx="1202055" cy="2603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603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HumanChatHub</a:t>
            </a:r>
            <a:endParaRPr sz="1250">
              <a:latin typeface="Arial"/>
              <a:cs typeface="Aria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8696920" y="7121423"/>
            <a:ext cx="269875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(depending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on</a:t>
            </a:r>
            <a:r>
              <a:rPr dirty="0" sz="12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features)</a:t>
            </a:r>
            <a:r>
              <a:rPr dirty="0" sz="12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are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used</a:t>
            </a:r>
            <a:r>
              <a:rPr dirty="0" sz="12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2B3541"/>
                </a:solidFill>
                <a:latin typeface="Arial"/>
                <a:cs typeface="Arial"/>
              </a:rPr>
              <a:t>with</a:t>
            </a:r>
            <a:endParaRPr sz="1250">
              <a:latin typeface="Arial"/>
              <a:cs typeface="Arial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1427726" y="7073506"/>
            <a:ext cx="988694" cy="2603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603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PresenceHub</a:t>
            </a:r>
            <a:endParaRPr sz="1250">
              <a:latin typeface="Arial"/>
              <a:cs typeface="Arial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2447278" y="7121423"/>
            <a:ext cx="136652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2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track</a:t>
            </a:r>
            <a:r>
              <a:rPr dirty="0" sz="12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user</a:t>
            </a:r>
            <a:r>
              <a:rPr dirty="0" sz="12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status</a:t>
            </a:r>
            <a:endParaRPr sz="1250">
              <a:latin typeface="Arial"/>
              <a:cs typeface="Arial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6303691" y="7387648"/>
            <a:ext cx="160401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25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B3541"/>
                </a:solidFill>
                <a:latin typeface="Arial"/>
                <a:cs typeface="Arial"/>
              </a:rPr>
              <a:t>send</a:t>
            </a:r>
            <a:r>
              <a:rPr dirty="0" sz="12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2B3541"/>
                </a:solidFill>
                <a:latin typeface="Arial"/>
                <a:cs typeface="Arial"/>
              </a:rPr>
              <a:t>notifications.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886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Frontend:</a:t>
            </a:r>
            <a:r>
              <a:rPr dirty="0" sz="3600" spc="-30"/>
              <a:t> </a:t>
            </a:r>
            <a:r>
              <a:rPr dirty="0" sz="3600"/>
              <a:t>Angular</a:t>
            </a:r>
            <a:r>
              <a:rPr dirty="0" sz="3600" spc="-25"/>
              <a:t> 18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955992" y="1556346"/>
            <a:ext cx="50965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user</a:t>
            </a:r>
            <a:r>
              <a:rPr dirty="0" sz="15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interface</a:t>
            </a:r>
            <a:r>
              <a:rPr dirty="0" sz="15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is</a:t>
            </a:r>
            <a:r>
              <a:rPr dirty="0" sz="15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built</a:t>
            </a:r>
            <a:r>
              <a:rPr dirty="0" sz="15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using</a:t>
            </a:r>
            <a:r>
              <a:rPr dirty="0" sz="15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Angular</a:t>
            </a:r>
            <a:r>
              <a:rPr dirty="0" sz="15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18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relies</a:t>
            </a:r>
            <a:r>
              <a:rPr dirty="0" sz="15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on</a:t>
            </a:r>
            <a:r>
              <a:rPr dirty="0" sz="15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2B3541"/>
                </a:solidFill>
                <a:latin typeface="Arial"/>
                <a:cs typeface="Arial"/>
              </a:rPr>
              <a:t>the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093967" y="1497571"/>
            <a:ext cx="466090" cy="3111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NgRx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599739" y="1556346"/>
            <a:ext cx="65341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pattern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for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state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management.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interface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is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designed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5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support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advanced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55986" y="1874547"/>
            <a:ext cx="78339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features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such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as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Augmented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Reality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(AR),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multilingualism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(RTL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with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Arabic),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dark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mode.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68692" y="2514841"/>
            <a:ext cx="1667510" cy="3111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FeatureFlagService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676055" y="2573616"/>
            <a:ext cx="14655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B3541"/>
                </a:solidFill>
                <a:latin typeface="Arial"/>
                <a:cs typeface="Arial"/>
              </a:rPr>
              <a:t>service:</a:t>
            </a:r>
            <a:r>
              <a:rPr dirty="0" sz="1500" spc="-8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Queries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81843" y="2514841"/>
            <a:ext cx="1476375" cy="3111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500" spc="40">
                <a:solidFill>
                  <a:srgbClr val="2B3541"/>
                </a:solidFill>
                <a:latin typeface="Arial"/>
                <a:cs typeface="Arial"/>
              </a:rPr>
              <a:t>/api/tenant/flags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697861" y="2573616"/>
            <a:ext cx="14236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5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exposes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2B3541"/>
                </a:solidFill>
                <a:latin typeface="Arial"/>
                <a:cs typeface="Arial"/>
              </a:rPr>
              <a:t>the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161530" y="2514841"/>
            <a:ext cx="729615" cy="3111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can(key)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55986" y="2891818"/>
            <a:ext cx="58394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function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control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visibility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of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features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based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on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tenant's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plan.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68692" y="3206114"/>
            <a:ext cx="1243965" cy="3111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ThemeService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252560" y="3264890"/>
            <a:ext cx="56883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B3541"/>
                </a:solidFill>
                <a:latin typeface="Arial"/>
                <a:cs typeface="Arial"/>
              </a:rPr>
              <a:t>service:</a:t>
            </a:r>
            <a:r>
              <a:rPr dirty="0" sz="1500" spc="-45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Toggles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light/dark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mode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stores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the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preference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locally.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68692" y="3585806"/>
            <a:ext cx="1018540" cy="3111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I18nService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027172" y="3644582"/>
            <a:ext cx="12331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B3541"/>
                </a:solidFill>
                <a:latin typeface="Arial"/>
                <a:cs typeface="Arial"/>
              </a:rPr>
              <a:t>service:</a:t>
            </a:r>
            <a:r>
              <a:rPr dirty="0" sz="1500" spc="-8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2B3541"/>
                </a:solidFill>
                <a:latin typeface="Arial"/>
                <a:cs typeface="Arial"/>
              </a:rPr>
              <a:t>Uses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299967" y="3585806"/>
            <a:ext cx="1169670" cy="3111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ngx-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translate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509585" y="3644582"/>
            <a:ext cx="237553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switch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languages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2B3541"/>
                </a:solidFill>
                <a:latin typeface="Arial"/>
                <a:cs typeface="Arial"/>
              </a:rPr>
              <a:t>set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926198" y="3585806"/>
            <a:ext cx="1201420" cy="3111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500" spc="45">
                <a:solidFill>
                  <a:srgbClr val="2B3541"/>
                </a:solidFill>
                <a:latin typeface="Arial"/>
                <a:cs typeface="Arial"/>
              </a:rPr>
              <a:t>document.dir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167447" y="3644582"/>
            <a:ext cx="1847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solidFill>
                  <a:srgbClr val="2B3541"/>
                </a:solidFill>
                <a:latin typeface="Arial"/>
                <a:cs typeface="Arial"/>
              </a:rPr>
              <a:t>to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55993" y="3962783"/>
            <a:ext cx="29546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support</a:t>
            </a:r>
            <a:r>
              <a:rPr dirty="0" sz="150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2B3541"/>
                </a:solidFill>
                <a:latin typeface="Arial"/>
                <a:cs typeface="Arial"/>
              </a:rPr>
              <a:t>Right-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to-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Left</a:t>
            </a:r>
            <a:r>
              <a:rPr dirty="0" sz="150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(RTL)</a:t>
            </a:r>
            <a:r>
              <a:rPr dirty="0" sz="150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writing.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68692" y="4277080"/>
            <a:ext cx="829310" cy="3111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ArService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837603" y="4335856"/>
            <a:ext cx="189992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B3541"/>
                </a:solidFill>
                <a:latin typeface="Arial"/>
                <a:cs typeface="Arial"/>
              </a:rPr>
              <a:t>service:</a:t>
            </a:r>
            <a:r>
              <a:rPr dirty="0" sz="1500" spc="-7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Manages</a:t>
            </a:r>
            <a:r>
              <a:rPr dirty="0" sz="1500" spc="-7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2B3541"/>
                </a:solidFill>
                <a:latin typeface="Arial"/>
                <a:cs typeface="Arial"/>
              </a:rPr>
              <a:t>the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777780" y="4277080"/>
            <a:ext cx="628015" cy="3111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500" spc="-65">
                <a:solidFill>
                  <a:srgbClr val="2B3541"/>
                </a:solidFill>
                <a:latin typeface="Arial"/>
                <a:cs typeface="Arial"/>
              </a:rPr>
              <a:t>WebXR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445684" y="4335856"/>
            <a:ext cx="15817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lifecycle</a:t>
            </a:r>
            <a:r>
              <a:rPr dirty="0" sz="1500" spc="-6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5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loads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067933" y="4277080"/>
            <a:ext cx="441325" cy="3111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500" spc="-105">
                <a:solidFill>
                  <a:srgbClr val="2B3541"/>
                </a:solidFill>
                <a:latin typeface="Arial"/>
                <a:cs typeface="Arial"/>
              </a:rPr>
              <a:t>GLTF</a:t>
            </a:r>
            <a:endParaRPr sz="150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549430" y="4335856"/>
            <a:ext cx="91503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models</a:t>
            </a:r>
            <a:r>
              <a:rPr dirty="0" sz="15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2B3541"/>
                </a:solidFill>
                <a:latin typeface="Arial"/>
                <a:cs typeface="Arial"/>
              </a:rPr>
              <a:t>for</a:t>
            </a:r>
            <a:endParaRPr sz="15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955995" y="4654057"/>
            <a:ext cx="23310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Augmented</a:t>
            </a:r>
            <a:r>
              <a:rPr dirty="0" sz="1500" spc="-8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Reality</a:t>
            </a:r>
            <a:r>
              <a:rPr dirty="0" sz="1500" spc="-8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display.</a:t>
            </a:r>
            <a:endParaRPr sz="150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955992" y="5134165"/>
            <a:ext cx="19735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Specific</a:t>
            </a:r>
            <a:r>
              <a:rPr dirty="0" sz="15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pages</a:t>
            </a:r>
            <a:r>
              <a:rPr dirty="0" sz="15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such</a:t>
            </a:r>
            <a:r>
              <a:rPr dirty="0" sz="15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2B3541"/>
                </a:solidFill>
                <a:latin typeface="Arial"/>
                <a:cs typeface="Arial"/>
              </a:rPr>
              <a:t>as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970034" y="5075389"/>
            <a:ext cx="1155065" cy="3111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500" spc="55">
                <a:solidFill>
                  <a:srgbClr val="2B3541"/>
                </a:solidFill>
                <a:latin typeface="Arial"/>
                <a:cs typeface="Arial"/>
              </a:rPr>
              <a:t>/chat/human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164870" y="5134165"/>
            <a:ext cx="34353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solidFill>
                  <a:srgbClr val="2B3541"/>
                </a:solidFill>
                <a:latin typeface="Arial"/>
                <a:cs typeface="Arial"/>
              </a:rPr>
              <a:t>and</a:t>
            </a:r>
            <a:endParaRPr sz="15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548327" y="5075389"/>
            <a:ext cx="883919" cy="3111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500" spc="45">
                <a:solidFill>
                  <a:srgbClr val="2B3541"/>
                </a:solidFill>
                <a:latin typeface="Arial"/>
                <a:cs typeface="Arial"/>
              </a:rPr>
              <a:t>/ar/car/:id</a:t>
            </a:r>
            <a:endParaRPr sz="15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472118" y="5134165"/>
            <a:ext cx="24917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are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protected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via</a:t>
            </a:r>
            <a:r>
              <a:rPr dirty="0" sz="15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Guards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2B3541"/>
                </a:solidFill>
                <a:latin typeface="Arial"/>
                <a:cs typeface="Arial"/>
              </a:rPr>
              <a:t>that</a:t>
            </a:r>
            <a:endParaRPr sz="150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955998" y="5445315"/>
            <a:ext cx="328485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verify</a:t>
            </a:r>
            <a:r>
              <a:rPr dirty="0" sz="15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feature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authorization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through</a:t>
            </a:r>
            <a:r>
              <a:rPr dirty="0" sz="15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2B3541"/>
                </a:solidFill>
                <a:latin typeface="Arial"/>
                <a:cs typeface="Arial"/>
              </a:rPr>
              <a:t>the</a:t>
            </a:r>
            <a:endParaRPr sz="150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283227" y="5386539"/>
            <a:ext cx="1667510" cy="3111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FeatureFlagService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937675" y="5445315"/>
            <a:ext cx="787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>
                <a:solidFill>
                  <a:srgbClr val="2B3541"/>
                </a:solidFill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37" name="object 3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7058" y="2558656"/>
            <a:ext cx="4792027" cy="4792027"/>
          </a:xfrm>
          <a:prstGeom prst="rect">
            <a:avLst/>
          </a:prstGeom>
        </p:spPr>
      </p:pic>
      <p:sp>
        <p:nvSpPr>
          <p:cNvPr id="38" name="object 38" descr=""/>
          <p:cNvSpPr txBox="1"/>
          <p:nvPr/>
        </p:nvSpPr>
        <p:spPr>
          <a:xfrm>
            <a:off x="955992" y="7854416"/>
            <a:ext cx="55384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Build</a:t>
            </a:r>
            <a:r>
              <a:rPr dirty="0" sz="15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command</a:t>
            </a:r>
            <a:r>
              <a:rPr dirty="0" sz="15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for</a:t>
            </a:r>
            <a:r>
              <a:rPr dirty="0" sz="150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production:</a:t>
            </a:r>
            <a:r>
              <a:rPr dirty="0" sz="15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ng</a:t>
            </a:r>
            <a:r>
              <a:rPr dirty="0" sz="15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B3541"/>
                </a:solidFill>
                <a:latin typeface="Arial"/>
                <a:cs typeface="Arial"/>
              </a:rPr>
              <a:t>build</a:t>
            </a:r>
            <a:r>
              <a:rPr dirty="0" sz="150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--configuration</a:t>
            </a:r>
            <a:r>
              <a:rPr dirty="0" sz="15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B3541"/>
                </a:solidFill>
                <a:latin typeface="Arial"/>
                <a:cs typeface="Arial"/>
              </a:rPr>
              <a:t>production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319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24305" algn="l"/>
                <a:tab pos="2413000" algn="l"/>
                <a:tab pos="4558030" algn="l"/>
                <a:tab pos="4868545" algn="l"/>
                <a:tab pos="6336665" algn="l"/>
              </a:tabLst>
            </a:pPr>
            <a:r>
              <a:rPr dirty="0" spc="-10"/>
              <a:t>Plans</a:t>
            </a:r>
            <a:r>
              <a:rPr dirty="0"/>
              <a:t>	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10"/>
              <a:t>Invoicing</a:t>
            </a:r>
            <a:r>
              <a:rPr dirty="0"/>
              <a:t>	</a:t>
            </a:r>
            <a:r>
              <a:rPr dirty="0" spc="-50"/>
              <a:t>-</a:t>
            </a:r>
            <a:r>
              <a:rPr dirty="0"/>
              <a:t>	</a:t>
            </a:r>
            <a:r>
              <a:rPr dirty="0" spc="-10"/>
              <a:t>Stripe</a:t>
            </a:r>
            <a:r>
              <a:rPr dirty="0"/>
              <a:t>	</a:t>
            </a:r>
            <a:r>
              <a:rPr dirty="0" spc="-10"/>
              <a:t>Integration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55992" y="1739976"/>
            <a:ext cx="1131062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Stripe</a:t>
            </a:r>
            <a:r>
              <a:rPr dirty="0" sz="17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is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used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manage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subscriptions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invoicing,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ensuring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secure</a:t>
            </a:r>
            <a:r>
              <a:rPr dirty="0" sz="17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PCI-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compliant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processing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of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payment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data.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27220" y="2631389"/>
            <a:ext cx="3552825" cy="1149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Tenant</a:t>
            </a:r>
            <a:r>
              <a:rPr dirty="0" sz="20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"/>
                <a:cs typeface="Arial"/>
              </a:rPr>
              <a:t>Provisioning</a:t>
            </a:r>
            <a:endParaRPr sz="2000">
              <a:latin typeface="Arial"/>
              <a:cs typeface="Arial"/>
            </a:endParaRPr>
          </a:p>
          <a:p>
            <a:pPr algn="r" marR="5715">
              <a:lnSpc>
                <a:spcPct val="100000"/>
              </a:lnSpc>
              <a:spcBef>
                <a:spcPts val="1710"/>
              </a:spcBef>
            </a:pP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Create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a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new</a:t>
            </a:r>
            <a:r>
              <a:rPr dirty="0" sz="17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Stripe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customer</a:t>
            </a:r>
            <a:r>
              <a:rPr dirty="0" sz="17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for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2B3541"/>
                </a:solidFill>
                <a:latin typeface="Arial"/>
                <a:cs typeface="Arial"/>
              </a:rPr>
              <a:t>the</a:t>
            </a:r>
            <a:endParaRPr sz="17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660"/>
              </a:spcBef>
            </a:pP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tenant.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849954" y="2449703"/>
            <a:ext cx="23679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2B3541"/>
                </a:solidFill>
                <a:latin typeface="Arial"/>
                <a:cs typeface="Arial"/>
              </a:rPr>
              <a:t>Upgrade/Downgrade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849954" y="2972028"/>
            <a:ext cx="28911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Update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Stripe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subscription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2B3541"/>
                </a:solidFill>
                <a:latin typeface="Arial"/>
                <a:cs typeface="Arial"/>
              </a:rPr>
              <a:t>via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862654" y="3248380"/>
            <a:ext cx="2877185" cy="34290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BillingController.ChangePlan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786715" y="3306937"/>
            <a:ext cx="38608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solidFill>
                  <a:srgbClr val="2B3541"/>
                </a:solidFill>
                <a:latin typeface="Arial"/>
                <a:cs typeface="Arial"/>
              </a:rPr>
              <a:t>and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849954" y="3649837"/>
            <a:ext cx="68516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update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582979" y="3591280"/>
            <a:ext cx="1334135" cy="34290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Feature</a:t>
            </a:r>
            <a:r>
              <a:rPr dirty="0" sz="1700" spc="10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40">
                <a:solidFill>
                  <a:srgbClr val="2B3541"/>
                </a:solidFill>
                <a:latin typeface="Arial"/>
                <a:cs typeface="Arial"/>
              </a:rPr>
              <a:t>Flags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964333" y="3649837"/>
            <a:ext cx="68389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locally.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849954" y="4663782"/>
            <a:ext cx="24257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Webhook</a:t>
            </a:r>
            <a:r>
              <a:rPr dirty="0" sz="2000" spc="-7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"/>
                <a:cs typeface="Arial"/>
              </a:rPr>
              <a:t>Processing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849954" y="5178132"/>
            <a:ext cx="3975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solidFill>
                  <a:srgbClr val="2B3541"/>
                </a:solidFill>
                <a:latin typeface="Arial"/>
                <a:cs typeface="Arial"/>
              </a:rPr>
              <a:t>The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294661" y="5119573"/>
            <a:ext cx="2048510" cy="34290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700" spc="55">
                <a:solidFill>
                  <a:srgbClr val="2B3541"/>
                </a:solidFill>
                <a:latin typeface="Arial"/>
                <a:cs typeface="Arial"/>
              </a:rPr>
              <a:t>/api/stripe/webhook</a:t>
            </a:r>
            <a:endParaRPr sz="17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390136" y="5178132"/>
            <a:ext cx="8528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endpoint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3855" y="2266238"/>
            <a:ext cx="4442460" cy="4442460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9849958" y="5445203"/>
            <a:ext cx="3405504" cy="1054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2400"/>
              </a:lnSpc>
              <a:spcBef>
                <a:spcPts val="100"/>
              </a:spcBef>
            </a:pP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receives</a:t>
            </a:r>
            <a:r>
              <a:rPr dirty="0" sz="17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notifications</a:t>
            </a:r>
            <a:r>
              <a:rPr dirty="0" sz="17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from</a:t>
            </a:r>
            <a:r>
              <a:rPr dirty="0" sz="17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Stripe</a:t>
            </a:r>
            <a:r>
              <a:rPr dirty="0" sz="17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2B3541"/>
                </a:solidFill>
                <a:latin typeface="Arial"/>
                <a:cs typeface="Arial"/>
              </a:rPr>
              <a:t>to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process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events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such</a:t>
            </a:r>
            <a:r>
              <a:rPr dirty="0" sz="17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as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successful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payments</a:t>
            </a:r>
            <a:r>
              <a:rPr dirty="0" sz="17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or</a:t>
            </a:r>
            <a:r>
              <a:rPr dirty="0" sz="17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subscription</a:t>
            </a:r>
            <a:r>
              <a:rPr dirty="0" sz="17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deletions.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287100" y="4837848"/>
            <a:ext cx="14928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2B3541"/>
                </a:solidFill>
                <a:latin typeface="Arial"/>
                <a:cs typeface="Arial"/>
              </a:rPr>
              <a:t>Usage</a:t>
            </a:r>
            <a:r>
              <a:rPr dirty="0" sz="2000" spc="-8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"/>
                <a:cs typeface="Arial"/>
              </a:rPr>
              <a:t>Limits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10904" y="5276367"/>
            <a:ext cx="3767454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64160">
              <a:lnSpc>
                <a:spcPct val="132400"/>
              </a:lnSpc>
              <a:spcBef>
                <a:spcPts val="100"/>
              </a:spcBef>
            </a:pP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Usage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limits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(AI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tokens,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upload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size, concurrent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devices)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are</a:t>
            </a:r>
            <a:r>
              <a:rPr dirty="0" sz="17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enforced</a:t>
            </a:r>
            <a:r>
              <a:rPr dirty="0" sz="170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in</a:t>
            </a:r>
            <a:r>
              <a:rPr dirty="0" sz="17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2B3541"/>
                </a:solidFill>
                <a:latin typeface="Arial"/>
                <a:cs typeface="Arial"/>
              </a:rPr>
              <a:t>the</a:t>
            </a:r>
            <a:endParaRPr sz="17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103877" y="6037996"/>
            <a:ext cx="8420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backend</a:t>
            </a:r>
            <a:endParaRPr sz="17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992818" y="5979439"/>
            <a:ext cx="1187450" cy="34290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r>
              <a:rPr dirty="0" sz="1700" spc="45">
                <a:solidFill>
                  <a:srgbClr val="2B3541"/>
                </a:solidFill>
                <a:latin typeface="Arial"/>
                <a:cs typeface="Arial"/>
              </a:rPr>
              <a:t>Middleware</a:t>
            </a:r>
            <a:endParaRPr sz="17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227224" y="6037996"/>
            <a:ext cx="5524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layer.</a:t>
            </a:r>
            <a:endParaRPr sz="1700">
              <a:latin typeface="Arial"/>
              <a:cs typeface="Arial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7943481" y="7198042"/>
            <a:ext cx="2004695" cy="342900"/>
          </a:xfrm>
          <a:custGeom>
            <a:avLst/>
            <a:gdLst/>
            <a:ahLst/>
            <a:cxnLst/>
            <a:rect l="l" t="t" r="r" b="b"/>
            <a:pathLst>
              <a:path w="2004695" h="342900">
                <a:moveTo>
                  <a:pt x="2004428" y="0"/>
                </a:moveTo>
                <a:lnTo>
                  <a:pt x="0" y="0"/>
                </a:lnTo>
                <a:lnTo>
                  <a:pt x="0" y="342900"/>
                </a:lnTo>
                <a:lnTo>
                  <a:pt x="2004428" y="342900"/>
                </a:lnTo>
                <a:lnTo>
                  <a:pt x="2004428" y="0"/>
                </a:lnTo>
                <a:close/>
              </a:path>
            </a:pathLst>
          </a:custGeom>
          <a:solidFill>
            <a:srgbClr val="3370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6647154" y="7198042"/>
            <a:ext cx="1176655" cy="342900"/>
          </a:xfrm>
          <a:custGeom>
            <a:avLst/>
            <a:gdLst/>
            <a:ahLst/>
            <a:cxnLst/>
            <a:rect l="l" t="t" r="r" b="b"/>
            <a:pathLst>
              <a:path w="1176654" h="342900">
                <a:moveTo>
                  <a:pt x="1176362" y="0"/>
                </a:moveTo>
                <a:lnTo>
                  <a:pt x="0" y="0"/>
                </a:lnTo>
                <a:lnTo>
                  <a:pt x="0" y="342900"/>
                </a:lnTo>
                <a:lnTo>
                  <a:pt x="1176362" y="342900"/>
                </a:lnTo>
                <a:lnTo>
                  <a:pt x="1176362" y="0"/>
                </a:lnTo>
                <a:close/>
              </a:path>
            </a:pathLst>
          </a:custGeom>
          <a:solidFill>
            <a:srgbClr val="E182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5362943" y="7198042"/>
            <a:ext cx="1164590" cy="342900"/>
          </a:xfrm>
          <a:custGeom>
            <a:avLst/>
            <a:gdLst/>
            <a:ahLst/>
            <a:cxnLst/>
            <a:rect l="l" t="t" r="r" b="b"/>
            <a:pathLst>
              <a:path w="1164590" h="342900">
                <a:moveTo>
                  <a:pt x="1164247" y="0"/>
                </a:moveTo>
                <a:lnTo>
                  <a:pt x="0" y="0"/>
                </a:lnTo>
                <a:lnTo>
                  <a:pt x="0" y="342900"/>
                </a:lnTo>
                <a:lnTo>
                  <a:pt x="1164247" y="342900"/>
                </a:lnTo>
                <a:lnTo>
                  <a:pt x="1164247" y="0"/>
                </a:lnTo>
                <a:close/>
              </a:path>
            </a:pathLst>
          </a:custGeom>
          <a:solidFill>
            <a:srgbClr val="3370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282344" y="7264590"/>
            <a:ext cx="87388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Example</a:t>
            </a:r>
            <a:r>
              <a:rPr dirty="0" sz="1700" spc="-7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of</a:t>
            </a:r>
            <a:r>
              <a:rPr dirty="0" sz="17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monthly</a:t>
            </a:r>
            <a:r>
              <a:rPr dirty="0" sz="17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AI</a:t>
            </a:r>
            <a:r>
              <a:rPr dirty="0" sz="17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token</a:t>
            </a:r>
            <a:r>
              <a:rPr dirty="0" sz="17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usage</a:t>
            </a:r>
            <a:r>
              <a:rPr dirty="0" sz="17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limits:</a:t>
            </a:r>
            <a:r>
              <a:rPr dirty="0" sz="17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Free</a:t>
            </a:r>
            <a:r>
              <a:rPr dirty="0" sz="17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10,000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,</a:t>
            </a:r>
            <a:r>
              <a:rPr dirty="0" sz="17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Pro</a:t>
            </a:r>
            <a:r>
              <a:rPr dirty="0" sz="1700" spc="-6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B3541"/>
                </a:solidFill>
                <a:latin typeface="Arial"/>
                <a:cs typeface="Arial"/>
              </a:rPr>
              <a:t>100,000,</a:t>
            </a:r>
            <a:r>
              <a:rPr dirty="0" sz="170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Enterprise</a:t>
            </a:r>
            <a:r>
              <a:rPr dirty="0" sz="17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</a:rPr>
              <a:t>1,000,000</a:t>
            </a:r>
            <a:r>
              <a:rPr dirty="0" sz="1700" spc="-10">
                <a:solidFill>
                  <a:srgbClr val="2B3541"/>
                </a:solidFill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968692" y="6953363"/>
            <a:ext cx="30480" cy="837565"/>
          </a:xfrm>
          <a:custGeom>
            <a:avLst/>
            <a:gdLst/>
            <a:ahLst/>
            <a:cxnLst/>
            <a:rect l="l" t="t" r="r" b="b"/>
            <a:pathLst>
              <a:path w="30480" h="837565">
                <a:moveTo>
                  <a:pt x="30479" y="0"/>
                </a:moveTo>
                <a:lnTo>
                  <a:pt x="0" y="0"/>
                </a:lnTo>
                <a:lnTo>
                  <a:pt x="0" y="837488"/>
                </a:lnTo>
                <a:lnTo>
                  <a:pt x="30479" y="837488"/>
                </a:lnTo>
                <a:lnTo>
                  <a:pt x="30479" y="0"/>
                </a:lnTo>
                <a:close/>
              </a:path>
            </a:pathLst>
          </a:custGeom>
          <a:solidFill>
            <a:srgbClr val="3370A4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992" y="339870"/>
            <a:ext cx="4977765" cy="3683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/>
              <a:t>Infrastructure</a:t>
            </a:r>
            <a:r>
              <a:rPr dirty="0" sz="2250" spc="-20"/>
              <a:t> </a:t>
            </a:r>
            <a:r>
              <a:rPr dirty="0" sz="2250"/>
              <a:t>as</a:t>
            </a:r>
            <a:r>
              <a:rPr dirty="0" sz="2250" spc="-20"/>
              <a:t> </a:t>
            </a:r>
            <a:r>
              <a:rPr dirty="0" sz="2250"/>
              <a:t>Code</a:t>
            </a:r>
            <a:r>
              <a:rPr dirty="0" sz="2250" spc="-15"/>
              <a:t> </a:t>
            </a:r>
            <a:r>
              <a:rPr dirty="0" sz="2250"/>
              <a:t>(IaC)</a:t>
            </a:r>
            <a:r>
              <a:rPr dirty="0" sz="2250" spc="-20"/>
              <a:t> </a:t>
            </a:r>
            <a:r>
              <a:rPr dirty="0" sz="2250"/>
              <a:t>and</a:t>
            </a:r>
            <a:r>
              <a:rPr dirty="0" sz="2250" spc="-15"/>
              <a:t> </a:t>
            </a:r>
            <a:r>
              <a:rPr dirty="0" sz="2250" spc="-10"/>
              <a:t>CI/CD</a:t>
            </a:r>
            <a:endParaRPr sz="2250"/>
          </a:p>
        </p:txBody>
      </p:sp>
      <p:sp>
        <p:nvSpPr>
          <p:cNvPr id="3" name="object 3" descr=""/>
          <p:cNvSpPr txBox="1"/>
          <p:nvPr/>
        </p:nvSpPr>
        <p:spPr>
          <a:xfrm>
            <a:off x="955992" y="1735683"/>
            <a:ext cx="6005195" cy="419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Terraform</a:t>
            </a:r>
            <a:r>
              <a:rPr dirty="0" sz="9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is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used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provision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core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cloud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resources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(Azure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AKS,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Azure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SQL,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Key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Vault).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Helm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is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used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2B3541"/>
                </a:solidFill>
                <a:latin typeface="Arial"/>
                <a:cs typeface="Arial"/>
              </a:rPr>
              <a:t>deploy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API</a:t>
            </a:r>
            <a:r>
              <a:rPr dirty="0" sz="9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9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SPA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applications,</a:t>
            </a:r>
            <a:r>
              <a:rPr dirty="0" sz="9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with</a:t>
            </a:r>
            <a:r>
              <a:rPr dirty="0" sz="9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reference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management</a:t>
            </a:r>
            <a:r>
              <a:rPr dirty="0" sz="9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for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2B3541"/>
                </a:solidFill>
                <a:latin typeface="Arial"/>
                <a:cs typeface="Arial"/>
              </a:rPr>
              <a:t>secrets.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55992" y="2293886"/>
            <a:ext cx="3980179" cy="41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Provisioning</a:t>
            </a:r>
            <a:r>
              <a:rPr dirty="0" sz="9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resource</a:t>
            </a:r>
            <a:r>
              <a:rPr dirty="0" sz="9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group</a:t>
            </a:r>
            <a:r>
              <a:rPr dirty="0" sz="9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(AKS,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Azure</a:t>
            </a:r>
            <a:r>
              <a:rPr dirty="0" sz="9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SQL,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ACR,</a:t>
            </a:r>
            <a:r>
              <a:rPr dirty="0" sz="9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Front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2B3541"/>
                </a:solidFill>
                <a:latin typeface="Arial"/>
                <a:cs typeface="Arial"/>
              </a:rPr>
              <a:t>Door).</a:t>
            </a:r>
            <a:endParaRPr sz="9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</a:tabLst>
            </a:pP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Embedding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secret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references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from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Key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Vault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into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Helm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2B3541"/>
                </a:solidFill>
                <a:latin typeface="Arial"/>
                <a:cs typeface="Arial"/>
              </a:rPr>
              <a:t>values.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55992" y="2770898"/>
            <a:ext cx="943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Core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2B3541"/>
                </a:solidFill>
                <a:latin typeface="Arial"/>
                <a:cs typeface="Arial"/>
              </a:rPr>
              <a:t>commands: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920791" y="2738551"/>
            <a:ext cx="889000" cy="1968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450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r>
              <a:rPr dirty="0" sz="950" spc="50">
                <a:solidFill>
                  <a:srgbClr val="2B3541"/>
                </a:solidFill>
                <a:latin typeface="Arial"/>
                <a:cs typeface="Arial"/>
              </a:rPr>
              <a:t>terraform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2B3541"/>
                </a:solidFill>
                <a:latin typeface="Arial"/>
                <a:cs typeface="Arial"/>
              </a:rPr>
              <a:t>apply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30327" y="2770898"/>
            <a:ext cx="22669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and</a:t>
            </a:r>
            <a:endParaRPr sz="9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77845" y="2738551"/>
            <a:ext cx="1229995" cy="19685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450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helm</a:t>
            </a:r>
            <a:r>
              <a:rPr dirty="0" sz="950" spc="19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upgrade</a:t>
            </a:r>
            <a:r>
              <a:rPr dirty="0" sz="950" spc="19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--</a:t>
            </a:r>
            <a:r>
              <a:rPr dirty="0" sz="950" spc="-10">
                <a:solidFill>
                  <a:srgbClr val="2B3541"/>
                </a:solidFill>
                <a:latin typeface="Arial"/>
                <a:cs typeface="Arial"/>
              </a:rPr>
              <a:t>install</a:t>
            </a:r>
            <a:endParaRPr sz="95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8692" y="3074911"/>
            <a:ext cx="6195771" cy="5154688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55992" y="986579"/>
            <a:ext cx="8425180" cy="64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We</a:t>
            </a:r>
            <a:r>
              <a:rPr dirty="0" sz="9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use</a:t>
            </a:r>
            <a:r>
              <a:rPr dirty="0" sz="9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Terraform</a:t>
            </a:r>
            <a:r>
              <a:rPr dirty="0" sz="9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Helm</a:t>
            </a:r>
            <a:r>
              <a:rPr dirty="0" sz="9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9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manage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infrastructure</a:t>
            </a:r>
            <a:r>
              <a:rPr dirty="0" sz="9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resources</a:t>
            </a:r>
            <a:r>
              <a:rPr dirty="0" sz="9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reliable</a:t>
            </a:r>
            <a:r>
              <a:rPr dirty="0" sz="9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deployment,</a:t>
            </a:r>
            <a:r>
              <a:rPr dirty="0" sz="9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ensuring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identical</a:t>
            </a:r>
            <a:r>
              <a:rPr dirty="0" sz="9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9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repeatable</a:t>
            </a:r>
            <a:r>
              <a:rPr dirty="0" sz="9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2B3541"/>
                </a:solidFill>
                <a:latin typeface="Arial"/>
                <a:cs typeface="Arial"/>
              </a:rPr>
              <a:t>environments.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6517005" algn="l"/>
              </a:tabLst>
            </a:pPr>
            <a:r>
              <a:rPr dirty="0" sz="1350">
                <a:solidFill>
                  <a:srgbClr val="051D39"/>
                </a:solidFill>
                <a:latin typeface="Arial"/>
                <a:cs typeface="Arial"/>
              </a:rPr>
              <a:t>Terraform</a:t>
            </a:r>
            <a:r>
              <a:rPr dirty="0" sz="1350" spc="-35">
                <a:solidFill>
                  <a:srgbClr val="051D39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051D39"/>
                </a:solidFill>
                <a:latin typeface="Arial"/>
                <a:cs typeface="Arial"/>
              </a:rPr>
              <a:t>and</a:t>
            </a:r>
            <a:r>
              <a:rPr dirty="0" sz="1350" spc="-35">
                <a:solidFill>
                  <a:srgbClr val="051D39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051D39"/>
                </a:solidFill>
                <a:latin typeface="Arial"/>
                <a:cs typeface="Arial"/>
              </a:rPr>
              <a:t>Helm</a:t>
            </a:r>
            <a:r>
              <a:rPr dirty="0" sz="1350">
                <a:solidFill>
                  <a:srgbClr val="051D39"/>
                </a:solidFill>
                <a:latin typeface="Arial"/>
                <a:cs typeface="Arial"/>
              </a:rPr>
              <a:t>	GitHub</a:t>
            </a:r>
            <a:r>
              <a:rPr dirty="0" sz="1350" spc="-10">
                <a:solidFill>
                  <a:srgbClr val="051D39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051D39"/>
                </a:solidFill>
                <a:latin typeface="Arial"/>
                <a:cs typeface="Arial"/>
              </a:rPr>
              <a:t>Actions</a:t>
            </a:r>
            <a:r>
              <a:rPr dirty="0" sz="1350" spc="-10">
                <a:solidFill>
                  <a:srgbClr val="051D39"/>
                </a:solidFill>
                <a:latin typeface="Arial"/>
                <a:cs typeface="Arial"/>
              </a:rPr>
              <a:t> Workflow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460615" y="1735683"/>
            <a:ext cx="5962650" cy="419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Build,</a:t>
            </a:r>
            <a:r>
              <a:rPr dirty="0" sz="9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test,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9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deployment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are</a:t>
            </a:r>
            <a:r>
              <a:rPr dirty="0" sz="9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automated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via</a:t>
            </a:r>
            <a:r>
              <a:rPr dirty="0" sz="9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GitHub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Actions</a:t>
            </a:r>
            <a:r>
              <a:rPr dirty="0" sz="9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workflows,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ensuring</a:t>
            </a:r>
            <a:r>
              <a:rPr dirty="0" sz="9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consistent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deployment</a:t>
            </a:r>
            <a:r>
              <a:rPr dirty="0" sz="9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2B3541"/>
                </a:solidFill>
                <a:latin typeface="Arial"/>
                <a:cs typeface="Arial"/>
              </a:rPr>
              <a:t>when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merging</a:t>
            </a:r>
            <a:r>
              <a:rPr dirty="0" sz="9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changes</a:t>
            </a:r>
            <a:r>
              <a:rPr dirty="0" sz="9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or</a:t>
            </a:r>
            <a:r>
              <a:rPr dirty="0" sz="9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creating</a:t>
            </a:r>
            <a:r>
              <a:rPr dirty="0" sz="950" spc="-2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Release</a:t>
            </a:r>
            <a:r>
              <a:rPr dirty="0" sz="9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2B3541"/>
                </a:solidFill>
                <a:latin typeface="Arial"/>
                <a:cs typeface="Arial"/>
              </a:rPr>
              <a:t>Tags.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460615" y="2293886"/>
            <a:ext cx="963294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2B3541"/>
                </a:solidFill>
                <a:latin typeface="Arial"/>
                <a:cs typeface="Arial"/>
              </a:rPr>
              <a:t>Workflow</a:t>
            </a:r>
            <a:r>
              <a:rPr dirty="0" sz="9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2B3541"/>
                </a:solidFill>
                <a:latin typeface="Arial"/>
                <a:cs typeface="Arial"/>
              </a:rPr>
              <a:t>Stages: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201545" y="2711386"/>
            <a:ext cx="9182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2B3541"/>
                </a:solidFill>
                <a:latin typeface="Arial"/>
                <a:cs typeface="Arial"/>
              </a:rPr>
              <a:t>Build</a:t>
            </a:r>
            <a:r>
              <a:rPr dirty="0" sz="11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1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2B3541"/>
                </a:solidFill>
                <a:latin typeface="Arial"/>
                <a:cs typeface="Arial"/>
              </a:rPr>
              <a:t>Test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73315" y="2593416"/>
            <a:ext cx="617457" cy="2963710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8201545" y="3452317"/>
            <a:ext cx="13144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2B3541"/>
                </a:solidFill>
                <a:latin typeface="Arial"/>
                <a:cs typeface="Arial"/>
              </a:rPr>
              <a:t>Build</a:t>
            </a:r>
            <a:r>
              <a:rPr dirty="0" sz="11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B3541"/>
                </a:solidFill>
                <a:latin typeface="Arial"/>
                <a:cs typeface="Arial"/>
              </a:rPr>
              <a:t>Docker</a:t>
            </a:r>
            <a:r>
              <a:rPr dirty="0" sz="110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B3541"/>
                </a:solidFill>
                <a:latin typeface="Arial"/>
                <a:cs typeface="Arial"/>
              </a:rPr>
              <a:t>Images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201545" y="4193235"/>
            <a:ext cx="8407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2B3541"/>
                </a:solidFill>
                <a:latin typeface="Arial"/>
                <a:cs typeface="Arial"/>
              </a:rPr>
              <a:t>Push</a:t>
            </a:r>
            <a:r>
              <a:rPr dirty="0" sz="110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B3541"/>
                </a:solidFill>
                <a:latin typeface="Arial"/>
                <a:cs typeface="Arial"/>
              </a:rPr>
              <a:t>Images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201545" y="4934165"/>
            <a:ext cx="17183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2B3541"/>
                </a:solidFill>
                <a:latin typeface="Arial"/>
                <a:cs typeface="Arial"/>
              </a:rPr>
              <a:t>Helm</a:t>
            </a:r>
            <a:r>
              <a:rPr dirty="0" sz="11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B3541"/>
                </a:solidFill>
                <a:latin typeface="Arial"/>
                <a:cs typeface="Arial"/>
              </a:rPr>
              <a:t>Update</a:t>
            </a:r>
            <a:r>
              <a:rPr dirty="0" sz="110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B3541"/>
                </a:solidFill>
                <a:latin typeface="Arial"/>
                <a:cs typeface="Arial"/>
              </a:rPr>
              <a:t>(Deployment)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992" y="559227"/>
            <a:ext cx="7018020" cy="589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63800" algn="l"/>
                <a:tab pos="4394835" algn="l"/>
                <a:tab pos="5309235" algn="l"/>
              </a:tabLst>
            </a:pPr>
            <a:r>
              <a:rPr dirty="0" sz="3700" spc="-10"/>
              <a:t>Monitoring,</a:t>
            </a:r>
            <a:r>
              <a:rPr dirty="0" sz="3700"/>
              <a:t>	</a:t>
            </a:r>
            <a:r>
              <a:rPr dirty="0" sz="3700" spc="-10"/>
              <a:t>Logging,</a:t>
            </a:r>
            <a:r>
              <a:rPr dirty="0" sz="3700"/>
              <a:t>	</a:t>
            </a:r>
            <a:r>
              <a:rPr dirty="0" sz="3700" spc="-25"/>
              <a:t>and</a:t>
            </a:r>
            <a:r>
              <a:rPr dirty="0" sz="3700"/>
              <a:t>	</a:t>
            </a:r>
            <a:r>
              <a:rPr dirty="0" sz="3700" spc="-10"/>
              <a:t>Security</a:t>
            </a:r>
            <a:endParaRPr sz="3700"/>
          </a:p>
        </p:txBody>
      </p:sp>
      <p:sp>
        <p:nvSpPr>
          <p:cNvPr id="3" name="object 3" descr=""/>
          <p:cNvSpPr txBox="1"/>
          <p:nvPr/>
        </p:nvSpPr>
        <p:spPr>
          <a:xfrm>
            <a:off x="955992" y="1533563"/>
            <a:ext cx="12370435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 spc="-10">
                <a:solidFill>
                  <a:srgbClr val="2B3541"/>
                </a:solidFill>
                <a:latin typeface="Arial"/>
                <a:cs typeface="Arial"/>
              </a:rPr>
              <a:t>Comprehensive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monitoring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robust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security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measures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are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essential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for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B3541"/>
                </a:solidFill>
                <a:latin typeface="Arial"/>
                <a:cs typeface="Arial"/>
              </a:rPr>
              <a:t>multi-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tenant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SaaS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platform.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We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use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an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integrated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suite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of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tools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to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ensure</a:t>
            </a:r>
            <a:r>
              <a:rPr dirty="0" sz="155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visibility</a:t>
            </a:r>
            <a:r>
              <a:rPr dirty="0" sz="155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55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B3541"/>
                </a:solidFill>
                <a:latin typeface="Arial"/>
                <a:cs typeface="Arial"/>
              </a:rPr>
              <a:t>compliance.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8692" y="2421610"/>
            <a:ext cx="503514" cy="50351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55992" y="3169323"/>
            <a:ext cx="216598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solidFill>
                  <a:srgbClr val="2B3541"/>
                </a:solidFill>
                <a:latin typeface="Arial"/>
                <a:cs typeface="Arial"/>
              </a:rPr>
              <a:t>Monitoring</a:t>
            </a:r>
            <a:r>
              <a:rPr dirty="0" sz="18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B3541"/>
                </a:solidFill>
                <a:latin typeface="Arial"/>
                <a:cs typeface="Arial"/>
              </a:rPr>
              <a:t>&amp;</a:t>
            </a:r>
            <a:r>
              <a:rPr dirty="0" sz="18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B3541"/>
                </a:solidFill>
                <a:latin typeface="Arial"/>
                <a:cs typeface="Arial"/>
              </a:rPr>
              <a:t>Metrics</a:t>
            </a:r>
            <a:endParaRPr sz="18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55992" y="3576916"/>
            <a:ext cx="5613400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We</a:t>
            </a:r>
            <a:r>
              <a:rPr dirty="0" sz="15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use</a:t>
            </a:r>
            <a:r>
              <a:rPr dirty="0" sz="15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B3541"/>
                </a:solidFill>
                <a:latin typeface="Arial"/>
                <a:cs typeface="Arial"/>
              </a:rPr>
              <a:t>Application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Insights</a:t>
            </a:r>
            <a:r>
              <a:rPr dirty="0" sz="15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for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tracing</a:t>
            </a:r>
            <a:r>
              <a:rPr dirty="0" sz="15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telemetry,</a:t>
            </a:r>
            <a:r>
              <a:rPr dirty="0" sz="15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along</a:t>
            </a:r>
            <a:r>
              <a:rPr dirty="0" sz="15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2B3541"/>
                </a:solidFill>
                <a:latin typeface="Arial"/>
                <a:cs typeface="Arial"/>
              </a:rPr>
              <a:t>with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Prometheus</a:t>
            </a:r>
            <a:r>
              <a:rPr dirty="0" sz="15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Grafana</a:t>
            </a:r>
            <a:r>
              <a:rPr dirty="0" sz="15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for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metrics</a:t>
            </a:r>
            <a:r>
              <a:rPr dirty="0" sz="15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custom</a:t>
            </a:r>
            <a:r>
              <a:rPr dirty="0" sz="15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B3541"/>
                </a:solidFill>
                <a:latin typeface="Arial"/>
                <a:cs typeface="Arial"/>
              </a:rPr>
              <a:t>dashboards.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40930" y="2421610"/>
            <a:ext cx="503514" cy="50351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428230" y="3169323"/>
            <a:ext cx="2010410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solidFill>
                  <a:srgbClr val="2B3541"/>
                </a:solidFill>
                <a:latin typeface="Arial"/>
                <a:cs typeface="Arial"/>
              </a:rPr>
              <a:t>Structured</a:t>
            </a:r>
            <a:r>
              <a:rPr dirty="0" sz="18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B3541"/>
                </a:solidFill>
                <a:latin typeface="Arial"/>
                <a:cs typeface="Arial"/>
              </a:rPr>
              <a:t>Logging</a:t>
            </a:r>
            <a:endParaRPr sz="18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428230" y="3658196"/>
            <a:ext cx="5493385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Serilog</a:t>
            </a:r>
            <a:r>
              <a:rPr dirty="0" sz="15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logs</a:t>
            </a:r>
            <a:r>
              <a:rPr dirty="0" sz="15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are</a:t>
            </a:r>
            <a:r>
              <a:rPr dirty="0" sz="15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directed</a:t>
            </a:r>
            <a:r>
              <a:rPr dirty="0" sz="15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5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Seq/Elastic,</a:t>
            </a:r>
            <a:r>
              <a:rPr dirty="0" sz="15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with</a:t>
            </a:r>
            <a:r>
              <a:rPr dirty="0" sz="15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logs</a:t>
            </a:r>
            <a:r>
              <a:rPr dirty="0" sz="15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enriched</a:t>
            </a:r>
            <a:r>
              <a:rPr dirty="0" sz="1550" spc="-4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2B3541"/>
                </a:solidFill>
                <a:latin typeface="Arial"/>
                <a:cs typeface="Arial"/>
              </a:rPr>
              <a:t>with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440930" y="3911282"/>
            <a:ext cx="815975" cy="31750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698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50"/>
              </a:spcBef>
            </a:pPr>
            <a:r>
              <a:rPr dirty="0" sz="1550" spc="-10">
                <a:solidFill>
                  <a:srgbClr val="2B3541"/>
                </a:solidFill>
                <a:latin typeface="Arial"/>
                <a:cs typeface="Arial"/>
              </a:rPr>
              <a:t>TenantId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298377" y="3968410"/>
            <a:ext cx="35433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and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694197" y="3911282"/>
            <a:ext cx="603885" cy="31750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698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50"/>
              </a:spcBef>
            </a:pPr>
            <a:r>
              <a:rPr dirty="0" sz="1550" spc="-10">
                <a:solidFill>
                  <a:srgbClr val="2B3541"/>
                </a:solidFill>
                <a:latin typeface="Arial"/>
                <a:cs typeface="Arial"/>
              </a:rPr>
              <a:t>UserId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339708" y="3968410"/>
            <a:ext cx="1774189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for</a:t>
            </a:r>
            <a:r>
              <a:rPr dirty="0" sz="15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easy</a:t>
            </a:r>
            <a:r>
              <a:rPr dirty="0" sz="1550" spc="-1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B3541"/>
                </a:solidFill>
                <a:latin typeface="Arial"/>
                <a:cs typeface="Arial"/>
              </a:rPr>
              <a:t>traceability.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8692" y="4648796"/>
            <a:ext cx="503514" cy="503516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955992" y="5396509"/>
            <a:ext cx="240093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solidFill>
                  <a:srgbClr val="2B3541"/>
                </a:solidFill>
                <a:latin typeface="Arial"/>
                <a:cs typeface="Arial"/>
              </a:rPr>
              <a:t>Security</a:t>
            </a:r>
            <a:r>
              <a:rPr dirty="0" sz="18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B3541"/>
                </a:solidFill>
                <a:latin typeface="Arial"/>
                <a:cs typeface="Arial"/>
              </a:rPr>
              <a:t>&amp;</a:t>
            </a:r>
            <a:r>
              <a:rPr dirty="0" sz="18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B3541"/>
                </a:solidFill>
                <a:latin typeface="Arial"/>
                <a:cs typeface="Arial"/>
              </a:rPr>
              <a:t>Compliance</a:t>
            </a:r>
            <a:endParaRPr sz="18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55992" y="5804103"/>
            <a:ext cx="6038850" cy="977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 spc="-10">
                <a:solidFill>
                  <a:srgbClr val="2B3541"/>
                </a:solidFill>
                <a:latin typeface="Arial"/>
                <a:cs typeface="Arial"/>
              </a:rPr>
              <a:t>Short-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lived</a:t>
            </a:r>
            <a:r>
              <a:rPr dirty="0" sz="155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JWT</a:t>
            </a:r>
            <a:r>
              <a:rPr dirty="0" sz="155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authentication,</a:t>
            </a:r>
            <a:r>
              <a:rPr dirty="0" sz="155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2B3541"/>
                </a:solidFill>
                <a:latin typeface="Arial"/>
                <a:cs typeface="Arial"/>
              </a:rPr>
              <a:t>role-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based</a:t>
            </a:r>
            <a:r>
              <a:rPr dirty="0" sz="155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authorization</a:t>
            </a:r>
            <a:r>
              <a:rPr dirty="0" sz="155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(RBAC)</a:t>
            </a:r>
            <a:r>
              <a:rPr dirty="0" sz="155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and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feature</a:t>
            </a:r>
            <a:r>
              <a:rPr dirty="0" sz="155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flags,</a:t>
            </a:r>
            <a:r>
              <a:rPr dirty="0" sz="15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B3541"/>
                </a:solidFill>
                <a:latin typeface="Arial"/>
                <a:cs typeface="Arial"/>
              </a:rPr>
              <a:t>per-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tenant/IP</a:t>
            </a:r>
            <a:r>
              <a:rPr dirty="0" sz="155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rate</a:t>
            </a:r>
            <a:r>
              <a:rPr dirty="0" sz="15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limiting,</a:t>
            </a:r>
            <a:r>
              <a:rPr dirty="0" sz="15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550" spc="-4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PCI/GDPR</a:t>
            </a:r>
            <a:r>
              <a:rPr dirty="0" sz="15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B3541"/>
                </a:solidFill>
                <a:latin typeface="Arial"/>
                <a:cs typeface="Arial"/>
              </a:rPr>
              <a:t>compliance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through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no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card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data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storage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automated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B3541"/>
                </a:solidFill>
                <a:latin typeface="Arial"/>
                <a:cs typeface="Arial"/>
              </a:rPr>
              <a:t>scanning.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40930" y="4648796"/>
            <a:ext cx="503514" cy="503516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7428230" y="5396509"/>
            <a:ext cx="821690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10">
                <a:solidFill>
                  <a:srgbClr val="2B3541"/>
                </a:solidFill>
                <a:latin typeface="Arial"/>
                <a:cs typeface="Arial"/>
              </a:rPr>
              <a:t>Alerting</a:t>
            </a:r>
            <a:endParaRPr sz="18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428230" y="5885383"/>
            <a:ext cx="6148705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Azure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Monitor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alerts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are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configured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detect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high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error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rates,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B3541"/>
                </a:solidFill>
                <a:latin typeface="Arial"/>
                <a:cs typeface="Arial"/>
              </a:rPr>
              <a:t>Hangfire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428230" y="6195597"/>
            <a:ext cx="3930015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job</a:t>
            </a:r>
            <a:r>
              <a:rPr dirty="0" sz="155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failures,</a:t>
            </a:r>
            <a:r>
              <a:rPr dirty="0" sz="155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and</a:t>
            </a:r>
            <a:r>
              <a:rPr dirty="0" sz="155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service</a:t>
            </a:r>
            <a:r>
              <a:rPr dirty="0" sz="155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health</a:t>
            </a:r>
            <a:r>
              <a:rPr dirty="0" sz="155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issues</a:t>
            </a:r>
            <a:r>
              <a:rPr dirty="0" sz="1550" spc="-5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via</a:t>
            </a:r>
            <a:r>
              <a:rPr dirty="0" sz="1550" spc="-5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the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1401882" y="6138468"/>
            <a:ext cx="745490" cy="31750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698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50"/>
              </a:spcBef>
            </a:pPr>
            <a:r>
              <a:rPr dirty="0" sz="1550" spc="40">
                <a:solidFill>
                  <a:srgbClr val="2B3541"/>
                </a:solidFill>
                <a:latin typeface="Arial"/>
                <a:cs typeface="Arial"/>
              </a:rPr>
              <a:t>/healthz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2189066" y="6195597"/>
            <a:ext cx="83439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10">
                <a:solidFill>
                  <a:srgbClr val="2B3541"/>
                </a:solidFill>
                <a:latin typeface="Arial"/>
                <a:cs typeface="Arial"/>
              </a:rPr>
              <a:t>endpoint.</a:t>
            </a:r>
            <a:endParaRPr sz="155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885616" y="7022071"/>
            <a:ext cx="1444625" cy="317500"/>
          </a:xfrm>
          <a:prstGeom prst="rect">
            <a:avLst/>
          </a:prstGeom>
          <a:solidFill>
            <a:srgbClr val="ECE8DE"/>
          </a:solidFill>
        </p:spPr>
        <p:txBody>
          <a:bodyPr wrap="square" lIns="0" tIns="698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50"/>
              </a:spcBef>
            </a:pPr>
            <a:r>
              <a:rPr dirty="0" sz="1550" spc="-125">
                <a:solidFill>
                  <a:srgbClr val="2B3541"/>
                </a:solidFill>
                <a:latin typeface="Arial"/>
                <a:cs typeface="Arial"/>
              </a:rPr>
              <a:t>TLS</a:t>
            </a:r>
            <a:r>
              <a:rPr dirty="0" sz="1550" spc="-10">
                <a:solidFill>
                  <a:srgbClr val="2B3541"/>
                </a:solidFill>
                <a:latin typeface="Arial"/>
                <a:cs typeface="Arial"/>
              </a:rPr>
              <a:t> everywhere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1372062" y="7079208"/>
            <a:ext cx="1807845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is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enforced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via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B3541"/>
                </a:solidFill>
                <a:latin typeface="Arial"/>
                <a:cs typeface="Arial"/>
              </a:rPr>
              <a:t>Front</a:t>
            </a:r>
            <a:endParaRPr sz="155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55992" y="6990642"/>
            <a:ext cx="8883650" cy="675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37500"/>
              </a:lnSpc>
              <a:spcBef>
                <a:spcPts val="100"/>
              </a:spcBef>
            </a:pP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5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ensure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security,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sensitive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secrets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are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stored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in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Azure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Key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Vault,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TDE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is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applied</a:t>
            </a:r>
            <a:r>
              <a:rPr dirty="0" sz="1550" spc="-35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to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Azure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B3541"/>
                </a:solidFill>
                <a:latin typeface="Arial"/>
                <a:cs typeface="Arial"/>
              </a:rPr>
              <a:t>SQL,</a:t>
            </a:r>
            <a:r>
              <a:rPr dirty="0" sz="1550" spc="-30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2B3541"/>
                </a:solidFill>
                <a:latin typeface="Arial"/>
                <a:cs typeface="Arial"/>
              </a:rPr>
              <a:t>and </a:t>
            </a:r>
            <a:r>
              <a:rPr dirty="0" sz="1550" spc="-10">
                <a:solidFill>
                  <a:srgbClr val="2B3541"/>
                </a:solidFill>
                <a:latin typeface="Arial"/>
                <a:cs typeface="Arial"/>
              </a:rPr>
              <a:t>Door.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2025-10-29T19:19:15Z</dcterms:created>
  <dcterms:modified xsi:type="dcterms:W3CDTF">2025-10-29T19:19:15Z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2025-10-29T00:00:00Z</vt:filetime>
  </property>
  <property fmtid="{D5CDD505-2E9C-101B-9397-08002B2CF9AE}" pid="3" name="LastSaved">
    <vt:filetime>2025-10-29T00:00:00Z</vt:filetime>
  </property>
  <property fmtid="{D5CDD505-2E9C-101B-9397-08002B2CF9AE}" pid="4" name="Producer">
    <vt:lpwstr>3-Heights(TM) PDF Security Shell 4.8.25.2 (http://www.pdf-tools.com)</vt:lpwstr>
  </property>
</Properties>
</file>