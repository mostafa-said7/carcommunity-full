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5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://localhost:5000/swagger" TargetMode="External"/><Relationship Id="rId2" Type="http://schemas.openxmlformats.org/officeDocument/2006/relationships/hyperlink" Target="http://localhost:4200" TargetMode="External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9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0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968693" y="2077164"/>
            <a:ext cx="12692896" cy="1452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CarCommunity Maintenance Center - Project Documentation</a:t>
            </a:r>
            <a:endParaRPr lang="en-US" sz="4550" dirty="0"/>
          </a:p>
        </p:txBody>
      </p:sp>
      <p:sp>
        <p:nvSpPr>
          <p:cNvPr id="5" name="Text 2"/>
          <p:cNvSpPr/>
          <p:nvPr/>
        </p:nvSpPr>
        <p:spPr>
          <a:xfrm>
            <a:off x="968693" y="3899535"/>
            <a:ext cx="1269289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document is intended for software engineers, DevOps engineers, and technical product managers responsible for building and maintaining the multi-tenant CarCommunity platform (ASP.NET Core + Angular).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968693" y="4967288"/>
            <a:ext cx="12692896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document provides a technical overview, architectural details, and quick-start guidelines to facilitate understanding and work on the project. The platform is designed to provide integrated services for car owners and service providers.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563880"/>
            <a:ext cx="7901583" cy="60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Project Overview and Key Features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968693" y="1576983"/>
            <a:ext cx="12692896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Car Community Maintenance Center is a comprehensive platform that allows car owners, maintenance shops, and spare parts sellers to manage vehicles, schedules, community interactions, and business transactions.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693" y="2463641"/>
            <a:ext cx="2146221" cy="21462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8693" y="4866084"/>
            <a:ext cx="2412444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Vehicle Management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68693" y="5290542"/>
            <a:ext cx="2980968" cy="1312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Registering cars, uploading photos, and viewing detailed maintenance history for each vehicle.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5883" y="2463641"/>
            <a:ext cx="2146340" cy="21463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05883" y="4866203"/>
            <a:ext cx="2981087" cy="602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Maintenance Scheduling and Reminders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205883" y="5592128"/>
            <a:ext cx="2981087" cy="98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Scheduling services, with automatic reminders via email and SMS.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192" y="2463641"/>
            <a:ext cx="2146340" cy="21463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43192" y="4866203"/>
            <a:ext cx="2981087" cy="602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E-Marketplace (Marketplace)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7443192" y="5592128"/>
            <a:ext cx="2981087" cy="984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Buying and selling spare parts, payment via Stripe, and efficient order tracking.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502" y="2463641"/>
            <a:ext cx="2146340" cy="21463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680502" y="4866203"/>
            <a:ext cx="2981087" cy="602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Augmented Reality (AR) Experiences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10680502" y="5592128"/>
            <a:ext cx="2981087" cy="1312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Pointing the phone towards the car to view live diagnostics, maintenance tips, and part details.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968693" y="7134820"/>
            <a:ext cx="12692896" cy="663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platform features Multi-tenant support where each client gets an isolated subdomain (e.g.,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{tenant}.mycarcommunity.com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), and full support for Dark-Mode and Arabic language (RTL).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339447"/>
            <a:ext cx="4195763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Key Architectural Components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968693" y="949404"/>
            <a:ext cx="12692896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platform is built on a modern model focusing on scalability and reliability. All services are centered around an API Gateway to ensure security and proper request routing.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324" y="1285756"/>
            <a:ext cx="8687514" cy="68963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23031" y="4199239"/>
            <a:ext cx="1561221" cy="100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Integration Architecture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058866" y="1958356"/>
            <a:ext cx="2322593" cy="33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API Gateway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058866" y="2395664"/>
            <a:ext cx="2322593" cy="571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Central point for request routing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187547" y="1647579"/>
            <a:ext cx="2322594" cy="67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Terraform &amp; GitHub Actions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187547" y="2420653"/>
            <a:ext cx="2322594" cy="856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Infrastructure deployment and automated operations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187547" y="6346909"/>
            <a:ext cx="2322594" cy="33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Hangfire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187547" y="6784217"/>
            <a:ext cx="2322594" cy="856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Scheduled tasks connecting to the database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058866" y="6489703"/>
            <a:ext cx="2322593" cy="33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EF Core Database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58866" y="6927012"/>
            <a:ext cx="2322593" cy="571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Data management and tenant isolation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896594" y="4049503"/>
            <a:ext cx="2373366" cy="33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SignalR + Redis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896594" y="4486811"/>
            <a:ext cx="2373366" cy="856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Real-time communication and caching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337126" y="4204990"/>
            <a:ext cx="2373365" cy="33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Stripe Webhooks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337126" y="4642298"/>
            <a:ext cx="2373365" cy="571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Payment notifications to API Gateway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53835" y="8506063"/>
            <a:ext cx="174271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Tenant Isolation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153835" y="8909090"/>
            <a:ext cx="12507754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Data isolation is enforced via a comprehensive filter in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EF Core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ensuring that every data query includes the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TenantId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thereby protecting the data privacy of each client.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968693" y="8320921"/>
            <a:ext cx="15240" cy="924520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21" name="Text 18"/>
          <p:cNvSpPr/>
          <p:nvPr/>
        </p:nvSpPr>
        <p:spPr>
          <a:xfrm>
            <a:off x="968693" y="9495353"/>
            <a:ext cx="6195893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API Gateway (NGINX):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TLS termination, request routing, and tenant information extraction.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968693" y="9735979"/>
            <a:ext cx="6195893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SignalR + Redis: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Real-time notifications, chat, and presence status.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968693" y="9976604"/>
            <a:ext cx="6195893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Hangfire: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Background tasks for reminders, usage summaries, and AI suggestions.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968693" y="10217229"/>
            <a:ext cx="6195893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OpenAI: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For chat services and community content moderation.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473196" y="9495353"/>
            <a:ext cx="6195893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EF Core: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The primary data layer for all entities (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Tenants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Cars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...).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473196" y="9735979"/>
            <a:ext cx="6195893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Blob Storage: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Storing images and Augmented Reality assets.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473196" y="9976604"/>
            <a:ext cx="6195893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Terraform + Helm: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For automating infrastructure provisioning and application deployment.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473196" y="10217229"/>
            <a:ext cx="6195893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Application Insights / Grafana: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For monitoring and metric aggregation.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594955"/>
            <a:ext cx="5576054" cy="636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Prerequisites and Tools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68693" y="1664018"/>
            <a:ext cx="12692896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 begin working on the project locally, a specific set of tools must be installed to ensure environment compatibility with ASP.NET Core 9 and Angular 18 requirements.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968693" y="2924175"/>
            <a:ext cx="4086701" cy="2245995"/>
          </a:xfrm>
          <a:prstGeom prst="roundRect">
            <a:avLst>
              <a:gd name="adj" fmla="val 6514"/>
            </a:avLst>
          </a:prstGeom>
          <a:solidFill>
            <a:srgbClr val="FAF5EB"/>
          </a:solidFill>
          <a:ln/>
        </p:spPr>
      </p:sp>
      <p:sp>
        <p:nvSpPr>
          <p:cNvPr id="5" name="Shape 3"/>
          <p:cNvSpPr/>
          <p:nvPr/>
        </p:nvSpPr>
        <p:spPr>
          <a:xfrm>
            <a:off x="968693" y="2893695"/>
            <a:ext cx="4086701" cy="121920"/>
          </a:xfrm>
          <a:prstGeom prst="roundRect">
            <a:avLst>
              <a:gd name="adj" fmla="val 74541"/>
            </a:avLst>
          </a:prstGeom>
          <a:solidFill>
            <a:srgbClr val="3371A5"/>
          </a:solidFill>
          <a:ln/>
        </p:spPr>
      </p:sp>
      <p:sp>
        <p:nvSpPr>
          <p:cNvPr id="6" name="Shape 4"/>
          <p:cNvSpPr/>
          <p:nvPr/>
        </p:nvSpPr>
        <p:spPr>
          <a:xfrm>
            <a:off x="2687479" y="2599611"/>
            <a:ext cx="649129" cy="649129"/>
          </a:xfrm>
          <a:prstGeom prst="roundRect">
            <a:avLst>
              <a:gd name="adj" fmla="val 140866"/>
            </a:avLst>
          </a:prstGeom>
          <a:solidFill>
            <a:srgbClr val="3371A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82265" y="2794397"/>
            <a:ext cx="259556" cy="2595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15509" y="3465076"/>
            <a:ext cx="2545556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.NET SDK 9.0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215509" y="3912989"/>
            <a:ext cx="3593068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Or .NET 8 LTS with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TargetFramework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modification.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271730" y="2924175"/>
            <a:ext cx="4086701" cy="2245995"/>
          </a:xfrm>
          <a:prstGeom prst="roundRect">
            <a:avLst>
              <a:gd name="adj" fmla="val 6514"/>
            </a:avLst>
          </a:prstGeom>
          <a:solidFill>
            <a:srgbClr val="FAF5EB"/>
          </a:solidFill>
          <a:ln/>
        </p:spPr>
      </p:sp>
      <p:sp>
        <p:nvSpPr>
          <p:cNvPr id="11" name="Shape 8"/>
          <p:cNvSpPr/>
          <p:nvPr/>
        </p:nvSpPr>
        <p:spPr>
          <a:xfrm>
            <a:off x="5271730" y="2893695"/>
            <a:ext cx="4086701" cy="121920"/>
          </a:xfrm>
          <a:prstGeom prst="roundRect">
            <a:avLst>
              <a:gd name="adj" fmla="val 74541"/>
            </a:avLst>
          </a:prstGeom>
          <a:solidFill>
            <a:srgbClr val="3371A5"/>
          </a:solidFill>
          <a:ln/>
        </p:spPr>
      </p:sp>
      <p:sp>
        <p:nvSpPr>
          <p:cNvPr id="12" name="Shape 9"/>
          <p:cNvSpPr/>
          <p:nvPr/>
        </p:nvSpPr>
        <p:spPr>
          <a:xfrm>
            <a:off x="6990517" y="2599611"/>
            <a:ext cx="649129" cy="649129"/>
          </a:xfrm>
          <a:prstGeom prst="roundRect">
            <a:avLst>
              <a:gd name="adj" fmla="val 140866"/>
            </a:avLst>
          </a:prstGeom>
          <a:solidFill>
            <a:srgbClr val="3371A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5303" y="2794397"/>
            <a:ext cx="259556" cy="2595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18547" y="3465076"/>
            <a:ext cx="2545556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Node.js 20.x LTS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5518547" y="3912989"/>
            <a:ext cx="3593068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Required to run and build Angular applications.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9574768" y="2924175"/>
            <a:ext cx="4086820" cy="2245995"/>
          </a:xfrm>
          <a:prstGeom prst="roundRect">
            <a:avLst>
              <a:gd name="adj" fmla="val 6514"/>
            </a:avLst>
          </a:prstGeom>
          <a:solidFill>
            <a:srgbClr val="FAF5EB"/>
          </a:solidFill>
          <a:ln/>
        </p:spPr>
      </p:sp>
      <p:sp>
        <p:nvSpPr>
          <p:cNvPr id="17" name="Shape 13"/>
          <p:cNvSpPr/>
          <p:nvPr/>
        </p:nvSpPr>
        <p:spPr>
          <a:xfrm>
            <a:off x="9574768" y="2893695"/>
            <a:ext cx="4086820" cy="121920"/>
          </a:xfrm>
          <a:prstGeom prst="roundRect">
            <a:avLst>
              <a:gd name="adj" fmla="val 74541"/>
            </a:avLst>
          </a:prstGeom>
          <a:solidFill>
            <a:srgbClr val="3371A5"/>
          </a:solidFill>
          <a:ln/>
        </p:spPr>
      </p:sp>
      <p:sp>
        <p:nvSpPr>
          <p:cNvPr id="18" name="Shape 14"/>
          <p:cNvSpPr/>
          <p:nvPr/>
        </p:nvSpPr>
        <p:spPr>
          <a:xfrm>
            <a:off x="11293554" y="2599611"/>
            <a:ext cx="649129" cy="649129"/>
          </a:xfrm>
          <a:prstGeom prst="roundRect">
            <a:avLst>
              <a:gd name="adj" fmla="val 140866"/>
            </a:avLst>
          </a:prstGeom>
          <a:solidFill>
            <a:srgbClr val="3371A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88341" y="2794397"/>
            <a:ext cx="259556" cy="2595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821585" y="3465076"/>
            <a:ext cx="3593187" cy="63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Docker Desktop and Docker Compose v2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9821585" y="4231124"/>
            <a:ext cx="3593187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 run local dependent services (databases, Redis, etc.).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968693" y="5711071"/>
            <a:ext cx="6238280" cy="1927860"/>
          </a:xfrm>
          <a:prstGeom prst="roundRect">
            <a:avLst>
              <a:gd name="adj" fmla="val 7589"/>
            </a:avLst>
          </a:prstGeom>
          <a:solidFill>
            <a:srgbClr val="FAF5EB"/>
          </a:solidFill>
          <a:ln/>
        </p:spPr>
      </p:sp>
      <p:sp>
        <p:nvSpPr>
          <p:cNvPr id="23" name="Shape 18"/>
          <p:cNvSpPr/>
          <p:nvPr/>
        </p:nvSpPr>
        <p:spPr>
          <a:xfrm>
            <a:off x="968693" y="5680591"/>
            <a:ext cx="6238280" cy="121920"/>
          </a:xfrm>
          <a:prstGeom prst="roundRect">
            <a:avLst>
              <a:gd name="adj" fmla="val 74541"/>
            </a:avLst>
          </a:prstGeom>
          <a:solidFill>
            <a:srgbClr val="3371A5"/>
          </a:solidFill>
          <a:ln/>
        </p:spPr>
      </p:sp>
      <p:sp>
        <p:nvSpPr>
          <p:cNvPr id="24" name="Shape 19"/>
          <p:cNvSpPr/>
          <p:nvPr/>
        </p:nvSpPr>
        <p:spPr>
          <a:xfrm>
            <a:off x="3763208" y="5386507"/>
            <a:ext cx="649129" cy="649129"/>
          </a:xfrm>
          <a:prstGeom prst="roundRect">
            <a:avLst>
              <a:gd name="adj" fmla="val 140866"/>
            </a:avLst>
          </a:prstGeom>
          <a:solidFill>
            <a:srgbClr val="3371A5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57995" y="5581293"/>
            <a:ext cx="259556" cy="2595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215509" y="6251972"/>
            <a:ext cx="3462933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Visual Studio 2022 / VS Code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1215509" y="6699885"/>
            <a:ext cx="5744647" cy="346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Recommended development environment.</a:t>
            </a:r>
            <a:endParaRPr lang="en-US" sz="1700" dirty="0"/>
          </a:p>
        </p:txBody>
      </p:sp>
      <p:sp>
        <p:nvSpPr>
          <p:cNvPr id="28" name="Shape 22"/>
          <p:cNvSpPr/>
          <p:nvPr/>
        </p:nvSpPr>
        <p:spPr>
          <a:xfrm>
            <a:off x="7423309" y="5711071"/>
            <a:ext cx="6238280" cy="1927860"/>
          </a:xfrm>
          <a:prstGeom prst="roundRect">
            <a:avLst>
              <a:gd name="adj" fmla="val 7589"/>
            </a:avLst>
          </a:prstGeom>
          <a:solidFill>
            <a:srgbClr val="FAF5EB"/>
          </a:solidFill>
          <a:ln/>
        </p:spPr>
      </p:sp>
      <p:sp>
        <p:nvSpPr>
          <p:cNvPr id="29" name="Shape 23"/>
          <p:cNvSpPr/>
          <p:nvPr/>
        </p:nvSpPr>
        <p:spPr>
          <a:xfrm>
            <a:off x="7423309" y="5680591"/>
            <a:ext cx="6238280" cy="121920"/>
          </a:xfrm>
          <a:prstGeom prst="roundRect">
            <a:avLst>
              <a:gd name="adj" fmla="val 74541"/>
            </a:avLst>
          </a:prstGeom>
          <a:solidFill>
            <a:srgbClr val="3371A5"/>
          </a:solidFill>
          <a:ln/>
        </p:spPr>
      </p:sp>
      <p:sp>
        <p:nvSpPr>
          <p:cNvPr id="30" name="Shape 24"/>
          <p:cNvSpPr/>
          <p:nvPr/>
        </p:nvSpPr>
        <p:spPr>
          <a:xfrm>
            <a:off x="10217825" y="5386507"/>
            <a:ext cx="649129" cy="649129"/>
          </a:xfrm>
          <a:prstGeom prst="roundRect">
            <a:avLst>
              <a:gd name="adj" fmla="val 140866"/>
            </a:avLst>
          </a:prstGeom>
          <a:solidFill>
            <a:srgbClr val="3371A5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12611" y="5581293"/>
            <a:ext cx="259556" cy="2595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670125" y="6251972"/>
            <a:ext cx="3696176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Terraform 1.9+ and Helm 3.14+</a:t>
            </a:r>
            <a:endParaRPr lang="en-US" sz="2000" dirty="0"/>
          </a:p>
        </p:txBody>
      </p:sp>
      <p:sp>
        <p:nvSpPr>
          <p:cNvPr id="33" name="Text 26"/>
          <p:cNvSpPr/>
          <p:nvPr/>
        </p:nvSpPr>
        <p:spPr>
          <a:xfrm>
            <a:off x="7670125" y="6699885"/>
            <a:ext cx="5744647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For infrastructure automation and deployment (optional for local work).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479108"/>
            <a:ext cx="9108877" cy="512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Getting Started - Local Setup and Development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68693" y="1339810"/>
            <a:ext cx="12692896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Local setup requires an environment file (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) containing the necessary secret keys to run services like the database, Stripe, and OpenAI, followed by running Docker Compose.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229916" y="2354223"/>
            <a:ext cx="5314474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Step 4.3: Build and Run with Docker Compose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229916" y="2922865"/>
            <a:ext cx="12431673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backend (API) runs on port 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5000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and the web interface (SPA) on port 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4200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SQL Server and Redis databases are automatically provisioned.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68693" y="2093000"/>
            <a:ext cx="22860" cy="1304449"/>
          </a:xfrm>
          <a:prstGeom prst="rect">
            <a:avLst/>
          </a:prstGeom>
          <a:solidFill>
            <a:srgbClr val="3371A5"/>
          </a:solidFill>
          <a:ln/>
        </p:spPr>
      </p:sp>
      <p:sp>
        <p:nvSpPr>
          <p:cNvPr id="7" name="Text 5"/>
          <p:cNvSpPr/>
          <p:nvPr/>
        </p:nvSpPr>
        <p:spPr>
          <a:xfrm>
            <a:off x="968693" y="3593425"/>
            <a:ext cx="12692896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Basic running commands: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68693" y="4068008"/>
            <a:ext cx="12692896" cy="1932861"/>
          </a:xfrm>
          <a:prstGeom prst="roundRect">
            <a:avLst>
              <a:gd name="adj" fmla="val 3786"/>
            </a:avLst>
          </a:prstGeom>
          <a:solidFill>
            <a:srgbClr val="EDE8DE"/>
          </a:solidFill>
          <a:ln/>
        </p:spPr>
      </p:sp>
      <p:sp>
        <p:nvSpPr>
          <p:cNvPr id="9" name="Shape 7"/>
          <p:cNvSpPr/>
          <p:nvPr/>
        </p:nvSpPr>
        <p:spPr>
          <a:xfrm>
            <a:off x="960001" y="4068008"/>
            <a:ext cx="12710279" cy="1932861"/>
          </a:xfrm>
          <a:prstGeom prst="roundRect">
            <a:avLst>
              <a:gd name="adj" fmla="val 1352"/>
            </a:avLst>
          </a:prstGeom>
          <a:solidFill>
            <a:srgbClr val="EDE8DE"/>
          </a:solidFill>
          <a:ln/>
        </p:spPr>
      </p:sp>
      <p:sp>
        <p:nvSpPr>
          <p:cNvPr id="10" name="Text 8"/>
          <p:cNvSpPr/>
          <p:nvPr/>
        </p:nvSpPr>
        <p:spPr>
          <a:xfrm>
            <a:off x="1134189" y="4198620"/>
            <a:ext cx="12361902" cy="1671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https://github.com/yourorg/car-community-saas.gitcd car-community-saas# Step 4.3: Build and run servicesdocker compose up -d --build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8693" y="6196846"/>
            <a:ext cx="12692896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Check Backend (Swagger): </a:t>
            </a:r>
            <a:pPr algn="l" indent="0" marL="0">
              <a:lnSpc>
                <a:spcPts val="2150"/>
              </a:lnSpc>
              <a:buNone/>
            </a:pPr>
            <a:r>
              <a:rPr lang="en-US" sz="1350" u="sng" dirty="0">
                <a:solidFill>
                  <a:srgbClr val="CE5099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http://localhost:5000/swagger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68693" y="6536412"/>
            <a:ext cx="12692896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Check User Interface (SPA): </a:t>
            </a:r>
            <a:pPr algn="l" indent="0" marL="0">
              <a:lnSpc>
                <a:spcPts val="2150"/>
              </a:lnSpc>
              <a:buNone/>
            </a:pPr>
            <a:r>
              <a:rPr lang="en-US" sz="1350" u="sng" dirty="0">
                <a:solidFill>
                  <a:srgbClr val="CE5099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http://localhost:4200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68693" y="7010995"/>
            <a:ext cx="12692896" cy="739973"/>
          </a:xfrm>
          <a:prstGeom prst="roundRect">
            <a:avLst>
              <a:gd name="adj" fmla="val 9889"/>
            </a:avLst>
          </a:prstGeom>
          <a:solidFill>
            <a:srgbClr val="C5DBED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881" y="7274243"/>
            <a:ext cx="217765" cy="17418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34835" y="7228642"/>
            <a:ext cx="1195256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Important Note: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You must run 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exec api dotnet ef database update</a:t>
            </a:r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only once to apply database migrations on the first run.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71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60877" y="451366"/>
            <a:ext cx="4652129" cy="482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Backend: ASP.NET Core 9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060877" y="1180386"/>
            <a:ext cx="7995047" cy="52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backend project structure follows a standard pattern, focusing on tenant isolation via 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ITenantEntity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and utilizing EF Core global query filters.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060877" y="1890355"/>
            <a:ext cx="7995047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Key concepts governing the backend: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060877" y="2337673"/>
            <a:ext cx="7995047" cy="1238964"/>
          </a:xfrm>
          <a:prstGeom prst="roundRect">
            <a:avLst>
              <a:gd name="adj" fmla="val 8856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38017" y="2337673"/>
            <a:ext cx="91440" cy="1238964"/>
          </a:xfrm>
          <a:prstGeom prst="roundRect">
            <a:avLst>
              <a:gd name="adj" fmla="val 75397"/>
            </a:avLst>
          </a:prstGeom>
          <a:solidFill>
            <a:srgbClr val="3371A5"/>
          </a:solidFill>
          <a:ln/>
        </p:spPr>
      </p:sp>
      <p:sp>
        <p:nvSpPr>
          <p:cNvPr id="8" name="Text 5"/>
          <p:cNvSpPr/>
          <p:nvPr/>
        </p:nvSpPr>
        <p:spPr>
          <a:xfrm>
            <a:off x="6316385" y="2524601"/>
            <a:ext cx="1931075" cy="241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Tenant Isolation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316385" y="2864406"/>
            <a:ext cx="7552611" cy="52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Every data entity includes a 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TenantId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and a filter is applied to ensure each tenant accesses only their own data: 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HasQueryFilter(e =&gt; EF.Property(e, "TenantId") == GetCurrentTenantId());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060877" y="3740706"/>
            <a:ext cx="7995047" cy="1238964"/>
          </a:xfrm>
          <a:prstGeom prst="roundRect">
            <a:avLst>
              <a:gd name="adj" fmla="val 8856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38017" y="3740706"/>
            <a:ext cx="91440" cy="1238964"/>
          </a:xfrm>
          <a:prstGeom prst="roundRect">
            <a:avLst>
              <a:gd name="adj" fmla="val 75397"/>
            </a:avLst>
          </a:prstGeom>
          <a:solidFill>
            <a:srgbClr val="3371A5"/>
          </a:solidFill>
          <a:ln/>
        </p:spPr>
      </p:sp>
      <p:sp>
        <p:nvSpPr>
          <p:cNvPr id="12" name="Text 9"/>
          <p:cNvSpPr/>
          <p:nvPr/>
        </p:nvSpPr>
        <p:spPr>
          <a:xfrm>
            <a:off x="6316385" y="3927634"/>
            <a:ext cx="2500313" cy="241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Feature Flags Management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16385" y="4267438"/>
            <a:ext cx="7552611" cy="52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FeatureFlag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table defines the features available to each tenant based on their 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Templates are copied when a new tenant is provisioned.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060877" y="5143738"/>
            <a:ext cx="7995047" cy="1238964"/>
          </a:xfrm>
          <a:prstGeom prst="roundRect">
            <a:avLst>
              <a:gd name="adj" fmla="val 8856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038017" y="5143738"/>
            <a:ext cx="91440" cy="1238964"/>
          </a:xfrm>
          <a:prstGeom prst="roundRect">
            <a:avLst>
              <a:gd name="adj" fmla="val 75397"/>
            </a:avLst>
          </a:prstGeom>
          <a:solidFill>
            <a:srgbClr val="3371A5"/>
          </a:solidFill>
          <a:ln/>
        </p:spPr>
      </p:sp>
      <p:sp>
        <p:nvSpPr>
          <p:cNvPr id="16" name="Text 13"/>
          <p:cNvSpPr/>
          <p:nvPr/>
        </p:nvSpPr>
        <p:spPr>
          <a:xfrm>
            <a:off x="6316385" y="5330666"/>
            <a:ext cx="1931075" cy="241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Provisioning Service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16385" y="5670471"/>
            <a:ext cx="7552611" cy="52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Responsible for creating the tenant, Stripe customer, admin user, copying initial feature settings, and sending the welcome email.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060877" y="6546771"/>
            <a:ext cx="7995047" cy="1238964"/>
          </a:xfrm>
          <a:prstGeom prst="roundRect">
            <a:avLst>
              <a:gd name="adj" fmla="val 8856"/>
            </a:avLst>
          </a:prstGeom>
          <a:solidFill>
            <a:srgbClr val="FAF5EB"/>
          </a:solidFill>
          <a:ln w="22860">
            <a:solidFill>
              <a:srgbClr val="D5CDB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38017" y="6546771"/>
            <a:ext cx="91440" cy="1238964"/>
          </a:xfrm>
          <a:prstGeom prst="roundRect">
            <a:avLst>
              <a:gd name="adj" fmla="val 75397"/>
            </a:avLst>
          </a:prstGeom>
          <a:solidFill>
            <a:srgbClr val="3371A5"/>
          </a:solidFill>
          <a:ln/>
        </p:spPr>
      </p:sp>
      <p:sp>
        <p:nvSpPr>
          <p:cNvPr id="20" name="Text 17"/>
          <p:cNvSpPr/>
          <p:nvPr/>
        </p:nvSpPr>
        <p:spPr>
          <a:xfrm>
            <a:off x="6316385" y="6733699"/>
            <a:ext cx="2219563" cy="241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Real-time Conversations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316385" y="7073503"/>
            <a:ext cx="7552611" cy="525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AiChatHub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and 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HumanChatHub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(depending on features) are used with 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PresenceHub</a:t>
            </a:r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to track user status and send notifications.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535424"/>
            <a:ext cx="4596408" cy="572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Frontend: Angular 18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68693" y="1497568"/>
            <a:ext cx="12692896" cy="623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user interface is built using Angular 18 and relies on the 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NgRx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pattern for state management. The interface is designed to support advanced features such as Augmented Reality (AR), multilingualism (RTL with Arabic), and dark mode.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68693" y="2514838"/>
            <a:ext cx="7425690" cy="623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FeatureFlagService</a:t>
            </a:r>
            <a:pPr algn="l" indent="0" marL="0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service: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Queries 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/api/tenant/flags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and exposes the 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can(key)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function to control the visibility of features based on the tenant's plan.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8693" y="3206115"/>
            <a:ext cx="7425690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ThemeService</a:t>
            </a:r>
            <a:pPr algn="l" indent="0" marL="0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service: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Toggles light/dark mode and stores the preference locally.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8693" y="3585805"/>
            <a:ext cx="7425690" cy="623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I18nService</a:t>
            </a:r>
            <a:pPr algn="l" indent="0" marL="0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service: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Uses 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ngx-translate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to switch languages and set 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document.dir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to support Right-to-Left (RTL) writing.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8693" y="4277082"/>
            <a:ext cx="7425690" cy="623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ArService</a:t>
            </a:r>
            <a:pPr algn="l" indent="0" marL="0">
              <a:lnSpc>
                <a:spcPts val="2450"/>
              </a:lnSpc>
              <a:buNone/>
            </a:pPr>
            <a:r>
              <a:rPr lang="en-US" sz="15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service: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Manages the 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WebXR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lifecycle and loads 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GLTF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models for Augmented Reality display.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8693" y="5075396"/>
            <a:ext cx="7425690" cy="623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Specific pages such as 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/chat/human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and 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/ar/car/:id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are protected via Guards that verify feature authorization through the 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FeatureFlagService</a:t>
            </a:r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7062" y="2558653"/>
            <a:ext cx="4792028" cy="47920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8693" y="7788593"/>
            <a:ext cx="12692896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Build command for production: ng build --configuration production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598289"/>
            <a:ext cx="9330214" cy="639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Plans and Invoicing - Stripe Integration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68693" y="1673423"/>
            <a:ext cx="12692896" cy="348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Stripe is used to manage subscriptions and invoicing, ensuring secure and PCI-compliant processing of payment data.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2207657" y="2636758"/>
            <a:ext cx="2559844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Tenant Provisioning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8693" y="3087172"/>
            <a:ext cx="3798808" cy="696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Create a new Stripe customer for the tenant.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3851" y="2266236"/>
            <a:ext cx="4442460" cy="444246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8163" y="3052524"/>
            <a:ext cx="325517" cy="32551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62661" y="2455069"/>
            <a:ext cx="2565559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Upgrade/Downgrade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9862661" y="2905482"/>
            <a:ext cx="3798927" cy="105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Update Stripe subscription via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BillingController.ChangePlan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and update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Flags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locally.</a:t>
            </a:r>
            <a:endParaRPr lang="en-US" sz="1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851" y="2266236"/>
            <a:ext cx="4442460" cy="444246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4386" y="3430548"/>
            <a:ext cx="325517" cy="32551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862661" y="4669155"/>
            <a:ext cx="2559844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Webhook Processing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9862661" y="5119568"/>
            <a:ext cx="3798927" cy="1400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/api/stripe/webhook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endpoint receives notifications from Stripe to process events such as successful payments or subscription deletions.</a:t>
            </a:r>
            <a:endParaRPr lang="en-US" sz="17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3851" y="2266236"/>
            <a:ext cx="4442460" cy="4442460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46363" y="5596771"/>
            <a:ext cx="325517" cy="325517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207657" y="4843224"/>
            <a:ext cx="2559844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Usage Limits</a:t>
            </a:r>
            <a:endParaRPr lang="en-US" sz="2000" dirty="0"/>
          </a:p>
        </p:txBody>
      </p:sp>
      <p:sp>
        <p:nvSpPr>
          <p:cNvPr id="17" name="Text 9"/>
          <p:cNvSpPr/>
          <p:nvPr/>
        </p:nvSpPr>
        <p:spPr>
          <a:xfrm>
            <a:off x="968693" y="5293638"/>
            <a:ext cx="3798808" cy="1052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Usage limits (AI tokens, upload size, concurrent devices) are enforced in the backend </a:t>
            </a:r>
            <a:pPr algn="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Middleware</a:t>
            </a:r>
            <a:pPr algn="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layer.</a:t>
            </a:r>
            <a:endParaRPr lang="en-US" sz="17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93851" y="2266236"/>
            <a:ext cx="4442460" cy="4442460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80140" y="5218748"/>
            <a:ext cx="325517" cy="325517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295043" y="7198043"/>
            <a:ext cx="12366546" cy="348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Example of monthly AI token usage limits: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highlight>
                  <a:srgbClr val="3371A5"/>
                </a:highlight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Free 10,000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B3541"/>
                </a:solidFill>
                <a:highlight>
                  <a:srgbClr val="E282B7"/>
                </a:highlight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 100,000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highlight>
                  <a:srgbClr val="3371A5"/>
                </a:highlight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Enterprise 1,000,000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700" dirty="0"/>
          </a:p>
        </p:txBody>
      </p:sp>
      <p:sp>
        <p:nvSpPr>
          <p:cNvPr id="21" name="Shape 11"/>
          <p:cNvSpPr/>
          <p:nvPr/>
        </p:nvSpPr>
        <p:spPr>
          <a:xfrm>
            <a:off x="968693" y="6953369"/>
            <a:ext cx="30480" cy="837486"/>
          </a:xfrm>
          <a:prstGeom prst="rect">
            <a:avLst/>
          </a:prstGeom>
          <a:solidFill>
            <a:srgbClr val="3371A5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339566"/>
            <a:ext cx="5237083" cy="363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Infrastructure as Code (IaC) and CI/CD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968693" y="949762"/>
            <a:ext cx="12692896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We use Terraform and Helm to manage infrastructure resources and reliable deployment, ensuring identical and repeatable environments.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68693" y="1409581"/>
            <a:ext cx="174355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Terraform and Helm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68693" y="1750933"/>
            <a:ext cx="6195774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Terraform is used to provision core cloud resources (Azure AKS, Azure SQL, Key Vault). Helm is used to deploy API and SPA applications, with reference management for secrets.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68693" y="2257068"/>
            <a:ext cx="6195774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Provisioning a resource group (AKS, Azure SQL, ACR, Front Door).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68693" y="2497812"/>
            <a:ext cx="6195774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Embedding secret references from Key Vault into Helm values.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8693" y="2738557"/>
            <a:ext cx="6195774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Core commands: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and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helm upgrade --install</a:t>
            </a:r>
            <a:endParaRPr lang="en-US" sz="9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693" y="3074908"/>
            <a:ext cx="6195774" cy="619577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473315" y="1409581"/>
            <a:ext cx="205954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GitHub Actions Workflow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473315" y="1750933"/>
            <a:ext cx="6195774" cy="395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Build, test, and deployment are automated via GitHub Actions workflows, ensuring consistent deployment when merging changes or creating Release Tags.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473315" y="2257068"/>
            <a:ext cx="6195774" cy="197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Workflow Stages:</a:t>
            </a:r>
            <a:endParaRPr lang="en-US" sz="9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3315" y="2593419"/>
            <a:ext cx="617458" cy="74092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14241" y="2716887"/>
            <a:ext cx="145292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Build and Test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315" y="3334345"/>
            <a:ext cx="617458" cy="74092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14241" y="3457813"/>
            <a:ext cx="145292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Build Docker Images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3315" y="4075271"/>
            <a:ext cx="617458" cy="74092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14241" y="4198739"/>
            <a:ext cx="145292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Push Images</a:t>
            </a:r>
            <a:endParaRPr lang="en-US" sz="11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3315" y="4816197"/>
            <a:ext cx="617458" cy="74092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214241" y="4939665"/>
            <a:ext cx="1862614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Helm Update (Deployment)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8693" y="555188"/>
            <a:ext cx="7572494" cy="592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Monitoring, Logging, and Security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968693" y="1550432"/>
            <a:ext cx="12692896" cy="644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Comprehensive monitoring and robust security measures are essential for a multi-tenant SaaS platform. We use an integrated suite of tools to ensure visibility and compliance.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8693" y="2421612"/>
            <a:ext cx="503515" cy="5035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8693" y="3176826"/>
            <a:ext cx="2369820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Monitoring &amp; Metrics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68693" y="3593783"/>
            <a:ext cx="6220539" cy="644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We use Application Insights for tracing and telemetry, along with Prometheus and Grafana for metrics and custom dashboards.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0930" y="2421612"/>
            <a:ext cx="503515" cy="5035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40930" y="3176826"/>
            <a:ext cx="2369820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Structured Logging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7440930" y="3593783"/>
            <a:ext cx="6220658" cy="65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Serilog logs are directed to Seq/Elastic, with logs enriched with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TenantId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and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UserId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for easy traceability.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8693" y="4648795"/>
            <a:ext cx="503515" cy="50351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8693" y="5404009"/>
            <a:ext cx="2528530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Security &amp; Compliance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968693" y="5820966"/>
            <a:ext cx="6220539" cy="966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Short-lived JWT authentication, role-based authorization (RBAC) and feature flags, per-tenant/IP rate limiting, and PCI/GDPR compliance through no card data storage and automated scanning.</a:t>
            </a:r>
            <a:endParaRPr lang="en-US" sz="1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40930" y="4648795"/>
            <a:ext cx="503515" cy="50351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40930" y="5404009"/>
            <a:ext cx="2369820" cy="296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Alerting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7440930" y="5820966"/>
            <a:ext cx="6220658" cy="974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Azure Monitor alerts are configured to detect high error rates, Hangfire job failures, and service health issues via the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/healthz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endpoint.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968693" y="7022068"/>
            <a:ext cx="12692896" cy="65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To ensure security, sensitive secrets are stored in Azure Key Vault, TDE is applied to Azure SQL, and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3541"/>
                </a:solidFill>
                <a:highlight>
                  <a:srgbClr val="EDE8D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TLS everywhere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is enforced via Front Door.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2025-10-29T19:09:17Z</dcterms:created>
  <dcterms:modified xsi:type="dcterms:W3CDTF">2025-10-29T19:09:17Z</dcterms:modified>
</cp:coreProperties>
</file>